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68" r:id="rId4"/>
    <p:sldId id="274" r:id="rId5"/>
    <p:sldId id="275" r:id="rId6"/>
    <p:sldId id="276" r:id="rId7"/>
    <p:sldId id="264" r:id="rId8"/>
    <p:sldId id="267" r:id="rId9"/>
    <p:sldId id="269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35B2"/>
    <a:srgbClr val="D7EDE7"/>
    <a:srgbClr val="3F917C"/>
    <a:srgbClr val="DC6AC6"/>
    <a:srgbClr val="C76433"/>
    <a:srgbClr val="525252"/>
    <a:srgbClr val="E8894E"/>
    <a:srgbClr val="DF77CB"/>
    <a:srgbClr val="E282D0"/>
    <a:srgbClr val="EAF6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8" d="100"/>
          <a:sy n="58" d="100"/>
        </p:scale>
        <p:origin x="988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2E4004-ADB2-41CE-A666-CDB163461E92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9D7A51-0C8C-4170-95DC-2C8CE7CDB1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0175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当初の予定では削除機能までの</a:t>
            </a:r>
            <a:r>
              <a:rPr kumimoji="1" lang="en-US" altLang="ja-JP" dirty="0"/>
              <a:t>3</a:t>
            </a:r>
            <a:r>
              <a:rPr kumimoji="1" lang="ja-JP" altLang="en-US" dirty="0"/>
              <a:t>つの機能を実装予定だった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9D7A51-0C8C-4170-95DC-2C8CE7CDB137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74006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思ったより早くスケジュールが進んだので、更新機能まで開発することができた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9D7A51-0C8C-4170-95DC-2C8CE7CDB137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05337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9D7A51-0C8C-4170-95DC-2C8CE7CDB137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7120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B0E69C-FEA8-BB2E-66D9-E11E822A2B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F477962-0871-58F9-AC2C-C0846B6A5D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03D053C-2BE6-91FE-C929-87EF56C04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59216-092A-41FE-8DA0-25F537424A80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F4B58F3-1B34-D94C-EC16-00B26E631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A4101BD-A606-BCED-E219-3908EBB72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438F-2D1E-4AB9-94EE-1FDBD16C19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516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85C06E-3C4B-57C5-27B5-C643A4CA7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0CB2B68-9D59-9E00-D619-0309D78261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72E4C7F-A9C1-B77B-8DC0-E2451C0FA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59216-092A-41FE-8DA0-25F537424A80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99A29F0-533B-BC3A-9DEE-C73443C55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0A94141-4A93-18BA-363F-95578E838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438F-2D1E-4AB9-94EE-1FDBD16C19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5634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CDE6A5-671D-B76D-2926-48DE527CC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C3FE928-D5F9-166E-23AE-3759953474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307B0C4-8161-0DD6-BE1C-589F2CC73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59216-092A-41FE-8DA0-25F537424A80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CEBBDDF-CE33-0B11-4E3C-6C561280E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EE1B024-FB2A-2922-7F18-EF1EF479D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438F-2D1E-4AB9-94EE-1FDBD16C19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5612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AD6CE5-0A85-4950-B901-9A7DF6A13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3571375-802A-D6B3-A38D-47636F912A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94175AB-7D8B-73AE-3303-54FACBD8F6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96E5E5E-033F-06A5-9B3E-0857D8E2F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59216-092A-41FE-8DA0-25F537424A80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4677689-8144-A196-4FC1-8D194B729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6393440-136B-F5D5-8738-55A082736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438F-2D1E-4AB9-94EE-1FDBD16C19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3513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8A22BC-39C1-DC08-CD46-D50F59996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820F63C-DF26-B760-1A56-B313ADF723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CB90F36-F1C4-AB27-0C81-EBE1DE93E7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A563923-F96F-4472-FF51-4E536B236C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4C85BF3-D0BB-5C99-9C43-442017DF7F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CDEEE4B-9BF0-D202-ADF0-A9D2C400E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59216-092A-41FE-8DA0-25F537424A80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DF7F22B-65A1-3528-262B-3D1922F8F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CC89C08-FBBA-07F4-9D8D-21F74F5FE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438F-2D1E-4AB9-94EE-1FDBD16C19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2425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6694E0-5918-2000-5C63-C75DF9B3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637F655-11DB-FD5F-F073-ECE2FC408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59216-092A-41FE-8DA0-25F537424A80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9D0E467-6F5C-6D61-E5A3-DD11DA5EA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0A8BE12-DD4C-B2AE-BF85-91C5F3243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438F-2D1E-4AB9-94EE-1FDBD16C19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4757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5DF9023-B7CD-681B-1A44-1D26797AA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59216-092A-41FE-8DA0-25F537424A80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0A7DF12-FB60-967D-D680-AF9EAF0EF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152BB7E-58D9-2156-7056-89DC74409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438F-2D1E-4AB9-94EE-1FDBD16C19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1468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963C67-710D-D9A5-0E40-65134714B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FA641C3-F5B6-5C8F-AA79-FA235FF7A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01D896D-3A33-A0BE-945F-8A99FA2AA1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4C02C35-5CE8-D7DA-0238-F07EE5E1B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59216-092A-41FE-8DA0-25F537424A80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EBBD906-5594-5481-17E3-7CE2C7F81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60D04AA-3CC8-F2B6-49B4-6D97EFB4C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438F-2D1E-4AB9-94EE-1FDBD16C19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5823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07D6AB-D551-C029-8186-1686BD785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0F38762-0960-EC96-34D1-D009B8FB49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12B085C-265A-81DD-ABFC-5B62608DA8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728F556-56D8-053D-CA6F-931248F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59216-092A-41FE-8DA0-25F537424A80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F799A9E-7774-055A-90E0-4B38382CC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AD5644E-7ECE-ADF3-4323-28F67E5EA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438F-2D1E-4AB9-94EE-1FDBD16C19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4919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AA725E-CD18-A1EA-5AEB-2E77B9869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534CE81-5C57-34F2-6BD1-2A7B5B0B67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0CD3F1C-7D37-D92A-ED17-402BD010C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59216-092A-41FE-8DA0-25F537424A80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A1AAE79-E358-DD6A-420A-BB7BBEEB8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CC2E142-36E7-46A7-7E28-863FB59AD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438F-2D1E-4AB9-94EE-1FDBD16C19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3591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82B9B84-7027-5CC3-BA2E-9A1C5AC273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077BBF5-8BA7-09AE-1AFF-4AAEABDA99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C58E94B-4DE3-F8CD-3424-5EB9173BF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59216-092A-41FE-8DA0-25F537424A80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20D81A1-FD83-6393-B220-F63EBF708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3E5391E-50EC-558F-09D3-CC1926B09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438F-2D1E-4AB9-94EE-1FDBD16C19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3046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145D709-1E06-8079-7A88-8B1F76B7F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1FAC49D-5CA1-D831-8316-626541EBC0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C406E67-790B-CF48-48C6-22F7394E8B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59216-092A-41FE-8DA0-25F537424A80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8EC06A-6D4B-09CD-1EDA-4F7A4AAEEF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4AB0435-0C7F-BC76-B7E4-1D4419CE00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19438F-2D1E-4AB9-94EE-1FDBD16C19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8536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D87741B-A073-D096-F69C-7C413268F3B9}"/>
              </a:ext>
            </a:extLst>
          </p:cNvPr>
          <p:cNvSpPr txBox="1"/>
          <p:nvPr/>
        </p:nvSpPr>
        <p:spPr>
          <a:xfrm>
            <a:off x="-1026886" y="4551333"/>
            <a:ext cx="6477000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700" b="1" dirty="0">
                <a:solidFill>
                  <a:srgbClr val="D7EDE7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2026</a:t>
            </a:r>
            <a:endParaRPr kumimoji="1" lang="ja-JP" altLang="en-US" sz="16700" b="1" dirty="0">
              <a:solidFill>
                <a:srgbClr val="D7EDE7"/>
              </a:solidFill>
              <a:latin typeface="Segoe UI Black" panose="020B0A02040204020203" pitchFamily="34" charset="0"/>
              <a:ea typeface="Noto Sans JP" panose="020B0200000000000000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1CDBFFD-465D-C44A-7DFC-E016124528F3}"/>
              </a:ext>
            </a:extLst>
          </p:cNvPr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3F917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3269E29-88B0-F33D-B37E-54457C21F9E8}"/>
              </a:ext>
            </a:extLst>
          </p:cNvPr>
          <p:cNvSpPr txBox="1"/>
          <p:nvPr/>
        </p:nvSpPr>
        <p:spPr>
          <a:xfrm>
            <a:off x="1589314" y="1932565"/>
            <a:ext cx="901337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WEB</a:t>
            </a:r>
            <a:r>
              <a:rPr lang="ja-JP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アプリケーション開発</a:t>
            </a:r>
            <a:endParaRPr lang="en-US" altLang="ja-JP" sz="4000" b="1" dirty="0">
              <a:solidFill>
                <a:schemeClr val="tx1">
                  <a:lumMod val="75000"/>
                  <a:lumOff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lang="ja-JP" altLang="en-US" sz="8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成果報告</a:t>
            </a:r>
            <a:endParaRPr lang="en-US" altLang="ja-JP" sz="34400" b="1" dirty="0">
              <a:solidFill>
                <a:schemeClr val="tx1">
                  <a:lumMod val="75000"/>
                  <a:lumOff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9152132-D5B0-ACDC-8766-432F2F111856}"/>
              </a:ext>
            </a:extLst>
          </p:cNvPr>
          <p:cNvSpPr txBox="1"/>
          <p:nvPr/>
        </p:nvSpPr>
        <p:spPr>
          <a:xfrm>
            <a:off x="7643585" y="4925480"/>
            <a:ext cx="4303486" cy="141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3500"/>
              </a:lnSpc>
            </a:pPr>
            <a:r>
              <a:rPr lang="en-US" altLang="ja-JP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WEMEX</a:t>
            </a:r>
            <a:r>
              <a:rPr lang="ja-JP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株式会社 </a:t>
            </a:r>
            <a:endParaRPr lang="en-US" altLang="ja-JP" sz="2800" b="1" dirty="0">
              <a:solidFill>
                <a:schemeClr val="tx1">
                  <a:lumMod val="75000"/>
                  <a:lumOff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r">
              <a:lnSpc>
                <a:spcPts val="3500"/>
              </a:lnSpc>
            </a:pPr>
            <a:r>
              <a:rPr lang="ja-JP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開発本部 医科開発部</a:t>
            </a:r>
            <a:endParaRPr lang="en-US" altLang="ja-JP" sz="2800" b="1" dirty="0">
              <a:solidFill>
                <a:schemeClr val="tx1">
                  <a:lumMod val="75000"/>
                  <a:lumOff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r">
              <a:lnSpc>
                <a:spcPts val="3500"/>
              </a:lnSpc>
            </a:pPr>
            <a:r>
              <a:rPr lang="ja-JP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須崎千穂子</a:t>
            </a:r>
            <a:endParaRPr lang="en-US" altLang="ja-JP" sz="2800" b="1" dirty="0">
              <a:solidFill>
                <a:schemeClr val="tx1">
                  <a:lumMod val="75000"/>
                  <a:lumOff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51C2ECF-BECE-1BF5-A4A5-B95EF15B29DA}"/>
              </a:ext>
            </a:extLst>
          </p:cNvPr>
          <p:cNvSpPr txBox="1"/>
          <p:nvPr/>
        </p:nvSpPr>
        <p:spPr>
          <a:xfrm>
            <a:off x="7643584" y="4277527"/>
            <a:ext cx="4303486" cy="514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3500"/>
              </a:lnSpc>
            </a:pPr>
            <a:r>
              <a:rPr lang="en-US" altLang="ja-JP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2026</a:t>
            </a:r>
            <a:r>
              <a:rPr lang="ja-JP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年</a:t>
            </a:r>
            <a:r>
              <a:rPr lang="en-US" altLang="ja-JP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5</a:t>
            </a:r>
            <a:r>
              <a:rPr lang="ja-JP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月</a:t>
            </a:r>
            <a:r>
              <a:rPr lang="en-US" altLang="ja-JP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29</a:t>
            </a:r>
            <a:r>
              <a:rPr lang="ja-JP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日</a:t>
            </a:r>
            <a:endParaRPr lang="en-US" altLang="ja-JP" sz="2800" b="1" dirty="0">
              <a:solidFill>
                <a:schemeClr val="tx1">
                  <a:lumMod val="75000"/>
                  <a:lumOff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474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7ED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99D792-216E-73CF-26C8-5F5B2D6A3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E9AC1BF-ACFA-C072-B6D0-DEC549D8C5E8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21744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20F6B2D0-593E-E1D2-C040-31FD0B622470}"/>
              </a:ext>
            </a:extLst>
          </p:cNvPr>
          <p:cNvSpPr>
            <a:spLocks/>
          </p:cNvSpPr>
          <p:nvPr/>
        </p:nvSpPr>
        <p:spPr>
          <a:xfrm>
            <a:off x="-549729" y="-1475944"/>
            <a:ext cx="13291457" cy="616131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215FE43-789F-0B5E-5294-C25E8345D252}"/>
              </a:ext>
            </a:extLst>
          </p:cNvPr>
          <p:cNvSpPr txBox="1"/>
          <p:nvPr/>
        </p:nvSpPr>
        <p:spPr>
          <a:xfrm>
            <a:off x="1589314" y="1012453"/>
            <a:ext cx="90133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800" b="1" dirty="0">
                <a:solidFill>
                  <a:srgbClr val="C7643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社員・部署 情報管理システム</a:t>
            </a:r>
            <a:endParaRPr kumimoji="1" lang="ja-JP" altLang="en-US" sz="4800" b="1" dirty="0">
              <a:solidFill>
                <a:srgbClr val="C76433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8380F54D-73F5-9087-F6B1-144E90A8F4F8}"/>
              </a:ext>
            </a:extLst>
          </p:cNvPr>
          <p:cNvSpPr/>
          <p:nvPr/>
        </p:nvSpPr>
        <p:spPr>
          <a:xfrm>
            <a:off x="460290" y="2167523"/>
            <a:ext cx="5371426" cy="3806926"/>
          </a:xfrm>
          <a:prstGeom prst="rect">
            <a:avLst/>
          </a:prstGeom>
          <a:solidFill>
            <a:schemeClr val="bg1"/>
          </a:solidFill>
          <a:ln w="19050">
            <a:solidFill>
              <a:schemeClr val="bg2">
                <a:lumMod val="75000"/>
              </a:schemeClr>
            </a:solidFill>
          </a:ln>
          <a:effectLst>
            <a:outerShdw blurRad="50800" dist="38100" dir="2700000" sx="102000" sy="102000" algn="t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A733A27-FE41-8885-4784-65CD945A3485}"/>
              </a:ext>
            </a:extLst>
          </p:cNvPr>
          <p:cNvSpPr/>
          <p:nvPr/>
        </p:nvSpPr>
        <p:spPr>
          <a:xfrm>
            <a:off x="6242111" y="2167523"/>
            <a:ext cx="5371426" cy="3806926"/>
          </a:xfrm>
          <a:prstGeom prst="rect">
            <a:avLst/>
          </a:prstGeom>
          <a:solidFill>
            <a:schemeClr val="bg1"/>
          </a:solidFill>
          <a:ln w="19050">
            <a:solidFill>
              <a:schemeClr val="bg2">
                <a:lumMod val="75000"/>
              </a:schemeClr>
            </a:solidFill>
          </a:ln>
          <a:effectLst>
            <a:outerShdw blurRad="50800" dist="38100" dir="2700000" sx="102000" sy="102000" algn="t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FD5206B6-812B-6890-B2E3-7994F5CB62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9421" y="3664796"/>
            <a:ext cx="1234864" cy="1234864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C2545B18-2A83-720D-C4B9-C6B0B401A2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671" y="3619582"/>
            <a:ext cx="1268308" cy="1268308"/>
          </a:xfrm>
          <a:prstGeom prst="rect">
            <a:avLst/>
          </a:prstGeom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65B318DE-79A5-7826-AB4C-922D88AC16BF}"/>
              </a:ext>
            </a:extLst>
          </p:cNvPr>
          <p:cNvSpPr txBox="1"/>
          <p:nvPr/>
        </p:nvSpPr>
        <p:spPr>
          <a:xfrm>
            <a:off x="1582566" y="2269160"/>
            <a:ext cx="31268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b="1" dirty="0">
                <a:solidFill>
                  <a:srgbClr val="3F917C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社員管理</a:t>
            </a:r>
            <a:endParaRPr kumimoji="1" lang="ja-JP" altLang="en-US" sz="4000" b="1" dirty="0">
              <a:solidFill>
                <a:srgbClr val="3F917C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A7758AC6-6C0E-9CEF-11C5-45DBEAF5F1B8}"/>
              </a:ext>
            </a:extLst>
          </p:cNvPr>
          <p:cNvSpPr txBox="1"/>
          <p:nvPr/>
        </p:nvSpPr>
        <p:spPr>
          <a:xfrm>
            <a:off x="7605987" y="2269160"/>
            <a:ext cx="26166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b="1" dirty="0">
                <a:solidFill>
                  <a:srgbClr val="3F917C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部署管理</a:t>
            </a:r>
            <a:endParaRPr kumimoji="1" lang="ja-JP" altLang="en-US" sz="4000" b="1" dirty="0">
              <a:solidFill>
                <a:srgbClr val="3F917C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09E5755F-E8D1-F332-B555-E92FAF386398}"/>
              </a:ext>
            </a:extLst>
          </p:cNvPr>
          <p:cNvSpPr txBox="1"/>
          <p:nvPr/>
        </p:nvSpPr>
        <p:spPr>
          <a:xfrm>
            <a:off x="8610090" y="3590519"/>
            <a:ext cx="2616668" cy="13091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sz="28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☆部署</a:t>
            </a:r>
            <a:r>
              <a:rPr lang="en-US" altLang="ja-JP" sz="28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ID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sz="28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部署名 ○</a:t>
            </a:r>
            <a:endParaRPr kumimoji="1" lang="ja-JP" altLang="en-US" sz="2800" b="1" dirty="0">
              <a:solidFill>
                <a:schemeClr val="bg2">
                  <a:lumMod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4FCEC986-A8F7-0A04-72BA-FDC574D890C0}"/>
              </a:ext>
            </a:extLst>
          </p:cNvPr>
          <p:cNvSpPr txBox="1"/>
          <p:nvPr/>
        </p:nvSpPr>
        <p:spPr>
          <a:xfrm>
            <a:off x="1992085" y="3215549"/>
            <a:ext cx="3839631" cy="26146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ja-JP" altLang="en-US" sz="28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☆社員</a:t>
            </a:r>
            <a:r>
              <a:rPr lang="en-US" altLang="ja-JP" sz="28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ID</a:t>
            </a:r>
          </a:p>
          <a:p>
            <a:pPr marL="457200" indent="-45720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ja-JP" altLang="en-US" sz="28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氏名</a:t>
            </a:r>
            <a:endParaRPr lang="en-US" altLang="ja-JP" sz="2800" b="1" dirty="0">
              <a:solidFill>
                <a:schemeClr val="bg2">
                  <a:lumMod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marL="457200" indent="-45720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ja-JP" altLang="en-US" sz="28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メールアドレス ○</a:t>
            </a:r>
            <a:endParaRPr lang="en-US" altLang="ja-JP" sz="2800" b="1" dirty="0">
              <a:solidFill>
                <a:schemeClr val="bg2">
                  <a:lumMod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marL="457200" indent="-45720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ja-JP" altLang="en-US" sz="28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電話番号 ○</a:t>
            </a:r>
            <a:endParaRPr lang="en-US" altLang="ja-JP" sz="2800" b="1" dirty="0">
              <a:solidFill>
                <a:schemeClr val="bg2">
                  <a:lumMod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marL="457200" indent="-45720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ja-JP" altLang="en-US" sz="28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部署</a:t>
            </a:r>
            <a:endParaRPr lang="en-US" altLang="ja-JP" sz="2800" b="1" dirty="0">
              <a:solidFill>
                <a:schemeClr val="bg2">
                  <a:lumMod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764224D3-E96A-CC3D-67C3-E098492134F2}"/>
              </a:ext>
            </a:extLst>
          </p:cNvPr>
          <p:cNvSpPr txBox="1"/>
          <p:nvPr/>
        </p:nvSpPr>
        <p:spPr>
          <a:xfrm>
            <a:off x="7625417" y="6183049"/>
            <a:ext cx="4586013" cy="562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000"/>
              </a:lnSpc>
            </a:pPr>
            <a:r>
              <a:rPr lang="ja-JP" altLang="en-US" sz="24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☆：主キー  ○：ユニークな値</a:t>
            </a:r>
            <a:endParaRPr lang="en-US" altLang="ja-JP" sz="2400" b="1" dirty="0">
              <a:solidFill>
                <a:schemeClr val="bg2">
                  <a:lumMod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494F14CE-23F2-D3D1-E035-DEC74D81EE67}"/>
              </a:ext>
            </a:extLst>
          </p:cNvPr>
          <p:cNvSpPr/>
          <p:nvPr/>
        </p:nvSpPr>
        <p:spPr>
          <a:xfrm>
            <a:off x="0" y="464674"/>
            <a:ext cx="770798" cy="45719"/>
          </a:xfrm>
          <a:prstGeom prst="rect">
            <a:avLst/>
          </a:prstGeom>
          <a:solidFill>
            <a:srgbClr val="3F917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48A68D"/>
              </a:solidFill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71D62DEE-40FF-6E8B-1AE7-68136A2542C7}"/>
              </a:ext>
            </a:extLst>
          </p:cNvPr>
          <p:cNvSpPr txBox="1"/>
          <p:nvPr/>
        </p:nvSpPr>
        <p:spPr>
          <a:xfrm>
            <a:off x="1012371" y="206504"/>
            <a:ext cx="35596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演習内容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B8BC9150-00D2-E5E7-3A75-A8E58F6966C3}"/>
              </a:ext>
            </a:extLst>
          </p:cNvPr>
          <p:cNvSpPr txBox="1"/>
          <p:nvPr/>
        </p:nvSpPr>
        <p:spPr>
          <a:xfrm>
            <a:off x="11404600" y="64985"/>
            <a:ext cx="787400" cy="514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3500"/>
              </a:lnSpc>
            </a:pPr>
            <a:r>
              <a:rPr lang="en-US" altLang="ja-JP" sz="2800" b="1" dirty="0">
                <a:solidFill>
                  <a:schemeClr val="bg1">
                    <a:lumMod val="6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43792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7ED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EB2509-5F33-3420-0337-751F172F7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楕円 4">
            <a:extLst>
              <a:ext uri="{FF2B5EF4-FFF2-40B4-BE49-F238E27FC236}">
                <a16:creationId xmlns:a16="http://schemas.microsoft.com/office/drawing/2014/main" id="{CCEE0AE2-1139-851A-60C5-4121548DDA2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549729" y="-1475944"/>
            <a:ext cx="13291457" cy="616131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72D32F4-5B93-2204-E46A-FF5D195DEB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21744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aphicFrame>
        <p:nvGraphicFramePr>
          <p:cNvPr id="2" name="表 1">
            <a:extLst>
              <a:ext uri="{FF2B5EF4-FFF2-40B4-BE49-F238E27FC236}">
                <a16:creationId xmlns:a16="http://schemas.microsoft.com/office/drawing/2014/main" id="{402DEB81-0E14-BD8B-7D5F-D4B2BADA4D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8460222"/>
              </p:ext>
            </p:extLst>
          </p:nvPr>
        </p:nvGraphicFramePr>
        <p:xfrm>
          <a:off x="505195" y="1392716"/>
          <a:ext cx="11181608" cy="47685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04192">
                  <a:extLst>
                    <a:ext uri="{9D8B030D-6E8A-4147-A177-3AD203B41FA5}">
                      <a16:colId xmlns:a16="http://schemas.microsoft.com/office/drawing/2014/main" val="1986803113"/>
                    </a:ext>
                  </a:extLst>
                </a:gridCol>
                <a:gridCol w="6677416">
                  <a:extLst>
                    <a:ext uri="{9D8B030D-6E8A-4147-A177-3AD203B41FA5}">
                      <a16:colId xmlns:a16="http://schemas.microsoft.com/office/drawing/2014/main" val="1940966693"/>
                    </a:ext>
                  </a:extLst>
                </a:gridCol>
              </a:tblGrid>
              <a:tr h="54726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1" dirty="0">
                          <a:solidFill>
                            <a:schemeClr val="bg1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区分</a:t>
                      </a:r>
                    </a:p>
                  </a:txBody>
                  <a:tcPr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91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1" dirty="0">
                          <a:solidFill>
                            <a:schemeClr val="bg1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環境</a:t>
                      </a:r>
                      <a:r>
                        <a:rPr kumimoji="1" lang="en-US" altLang="ja-JP" sz="2800" b="1" dirty="0">
                          <a:solidFill>
                            <a:schemeClr val="bg1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/</a:t>
                      </a:r>
                      <a:r>
                        <a:rPr kumimoji="1" lang="ja-JP" altLang="en-US" sz="2800" b="1" dirty="0">
                          <a:solidFill>
                            <a:schemeClr val="bg1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ツール</a:t>
                      </a:r>
                    </a:p>
                  </a:txBody>
                  <a:tcPr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91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0223943"/>
                  </a:ext>
                </a:extLst>
              </a:tr>
              <a:tr h="54626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b="1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ホスト</a:t>
                      </a:r>
                      <a:r>
                        <a:rPr kumimoji="1" lang="en-US" altLang="ja-JP" sz="2400" b="1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OS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b="1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Windows11</a:t>
                      </a:r>
                      <a:endParaRPr kumimoji="1" lang="ja-JP" altLang="en-US" sz="2400" b="1" dirty="0">
                        <a:solidFill>
                          <a:schemeClr val="bg2">
                            <a:lumMod val="25000"/>
                          </a:schemeClr>
                        </a:solidFill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6251525"/>
                  </a:ext>
                </a:extLst>
              </a:tr>
              <a:tr h="510639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Linux</a:t>
                      </a:r>
                      <a:r>
                        <a:rPr kumimoji="1" lang="ja-JP" altLang="en-US" sz="2400" b="1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環境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b="1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WSL2(Ubuntu 24.04 LTS)</a:t>
                      </a:r>
                      <a:endParaRPr kumimoji="1" lang="ja-JP" altLang="en-US" sz="2400" b="1" dirty="0">
                        <a:solidFill>
                          <a:schemeClr val="bg2">
                            <a:lumMod val="25000"/>
                          </a:schemeClr>
                        </a:solidFill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87329"/>
                  </a:ext>
                </a:extLst>
              </a:tr>
              <a:tr h="475013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IDE</a:t>
                      </a:r>
                      <a:endParaRPr kumimoji="1" lang="ja-JP" altLang="en-US" sz="2400" b="1" dirty="0">
                        <a:solidFill>
                          <a:schemeClr val="bg2">
                            <a:lumMod val="25000"/>
                          </a:schemeClr>
                        </a:solidFill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b="1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Visual Studio Code</a:t>
                      </a:r>
                      <a:endParaRPr kumimoji="1" lang="ja-JP" altLang="en-US" sz="2400" b="1" dirty="0">
                        <a:solidFill>
                          <a:schemeClr val="bg2">
                            <a:lumMod val="25000"/>
                          </a:schemeClr>
                        </a:solidFill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096331"/>
                  </a:ext>
                </a:extLst>
              </a:tr>
              <a:tr h="661286">
                <a:tc>
                  <a:txBody>
                    <a:bodyPr/>
                    <a:lstStyle/>
                    <a:p>
                      <a:pPr algn="ctr"/>
                      <a:endParaRPr kumimoji="1" lang="en-US" altLang="ja-JP" sz="2400" b="1" dirty="0">
                        <a:solidFill>
                          <a:schemeClr val="bg2">
                            <a:lumMod val="25000"/>
                          </a:schemeClr>
                        </a:solidFill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  <a:p>
                      <a:pPr algn="ctr"/>
                      <a:r>
                        <a:rPr kumimoji="1" lang="ja-JP" altLang="en-US" sz="2400" b="1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拡張機能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ja-JP" sz="2400" b="1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              C# for Visual Studio Code </a:t>
                      </a:r>
                    </a:p>
                    <a:p>
                      <a:pPr algn="l"/>
                      <a:r>
                        <a:rPr lang="en-US" altLang="ja-JP" sz="2400" b="1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              C# Dev Kit for Visual Studio Code </a:t>
                      </a:r>
                    </a:p>
                    <a:p>
                      <a:pPr algn="l"/>
                      <a:r>
                        <a:rPr lang="en-US" altLang="ja-JP" sz="2400" b="1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              C# IDE Extensions for </a:t>
                      </a:r>
                      <a:r>
                        <a:rPr lang="en-US" altLang="ja-JP" sz="2400" b="1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VSCode</a:t>
                      </a:r>
                      <a:endParaRPr kumimoji="1" lang="ja-JP" altLang="en-US" sz="2400" b="1" dirty="0">
                        <a:solidFill>
                          <a:schemeClr val="bg2">
                            <a:lumMod val="25000"/>
                          </a:schemeClr>
                        </a:solidFill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2620796"/>
                  </a:ext>
                </a:extLst>
              </a:tr>
              <a:tr h="46195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RDBMS</a:t>
                      </a:r>
                      <a:endParaRPr kumimoji="1" lang="ja-JP" altLang="en-US" sz="2400" b="1" dirty="0">
                        <a:solidFill>
                          <a:schemeClr val="bg2">
                            <a:lumMod val="25000"/>
                          </a:schemeClr>
                        </a:solidFill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b="1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PostgreSQL17</a:t>
                      </a:r>
                      <a:endParaRPr kumimoji="1" lang="ja-JP" altLang="en-US" sz="2400" b="1" dirty="0">
                        <a:solidFill>
                          <a:schemeClr val="bg2">
                            <a:lumMod val="25000"/>
                          </a:schemeClr>
                        </a:solidFill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5179094"/>
                  </a:ext>
                </a:extLst>
              </a:tr>
              <a:tr h="486888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b="1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クエリツール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b="1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pgAdmin4</a:t>
                      </a:r>
                      <a:endParaRPr kumimoji="1" lang="ja-JP" altLang="en-US" sz="2400" b="1" dirty="0">
                        <a:solidFill>
                          <a:schemeClr val="bg2">
                            <a:lumMod val="25000"/>
                          </a:schemeClr>
                        </a:solidFill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4628436"/>
                  </a:ext>
                </a:extLst>
              </a:tr>
              <a:tr h="551863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Entity Frame Core</a:t>
                      </a:r>
                      <a:endParaRPr kumimoji="1" lang="ja-JP" altLang="en-US" sz="2400" b="1" dirty="0">
                        <a:solidFill>
                          <a:schemeClr val="bg2">
                            <a:lumMod val="25000"/>
                          </a:schemeClr>
                        </a:solidFill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b="1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Npgsql.EntityFrameworkCore.Post</a:t>
                      </a:r>
                      <a:r>
                        <a:rPr lang="en-US" altLang="ja-JP" sz="2400" b="1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 </a:t>
                      </a:r>
                      <a:r>
                        <a:rPr lang="en-US" altLang="ja-JP" sz="2400" b="1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greSQL</a:t>
                      </a:r>
                      <a:endParaRPr kumimoji="1" lang="ja-JP" altLang="en-US" sz="2400" b="1" dirty="0">
                        <a:solidFill>
                          <a:schemeClr val="bg2">
                            <a:lumMod val="25000"/>
                          </a:schemeClr>
                        </a:solidFill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87422"/>
                  </a:ext>
                </a:extLst>
              </a:tr>
            </a:tbl>
          </a:graphicData>
        </a:graphic>
      </p:graphicFrame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023049F7-396A-DE27-187F-A18184C44CCC}"/>
              </a:ext>
            </a:extLst>
          </p:cNvPr>
          <p:cNvSpPr/>
          <p:nvPr/>
        </p:nvSpPr>
        <p:spPr>
          <a:xfrm>
            <a:off x="0" y="464674"/>
            <a:ext cx="770798" cy="45719"/>
          </a:xfrm>
          <a:prstGeom prst="rect">
            <a:avLst/>
          </a:prstGeom>
          <a:solidFill>
            <a:srgbClr val="3F917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48A68D"/>
              </a:solidFill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4EBF57C4-A05D-3952-DB22-F83ACA2BE6F7}"/>
              </a:ext>
            </a:extLst>
          </p:cNvPr>
          <p:cNvSpPr txBox="1"/>
          <p:nvPr/>
        </p:nvSpPr>
        <p:spPr>
          <a:xfrm>
            <a:off x="1012371" y="206504"/>
            <a:ext cx="35596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開発環境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32B96572-EF8A-5B81-B917-C06C7B499B6A}"/>
              </a:ext>
            </a:extLst>
          </p:cNvPr>
          <p:cNvSpPr txBox="1"/>
          <p:nvPr/>
        </p:nvSpPr>
        <p:spPr>
          <a:xfrm>
            <a:off x="11404600" y="64985"/>
            <a:ext cx="787400" cy="514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3500"/>
              </a:lnSpc>
            </a:pPr>
            <a:r>
              <a:rPr lang="en-US" altLang="ja-JP" sz="2800" b="1" dirty="0">
                <a:solidFill>
                  <a:schemeClr val="bg1">
                    <a:lumMod val="6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93745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7ED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BA3408-D09D-3451-72D3-668176355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楕円 57">
            <a:extLst>
              <a:ext uri="{FF2B5EF4-FFF2-40B4-BE49-F238E27FC236}">
                <a16:creationId xmlns:a16="http://schemas.microsoft.com/office/drawing/2014/main" id="{635E106C-F520-900A-013C-8C4B8907E2B0}"/>
              </a:ext>
            </a:extLst>
          </p:cNvPr>
          <p:cNvSpPr>
            <a:spLocks/>
          </p:cNvSpPr>
          <p:nvPr/>
        </p:nvSpPr>
        <p:spPr>
          <a:xfrm>
            <a:off x="-549729" y="-1475944"/>
            <a:ext cx="13291457" cy="616131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4B9AD9CC-ADDF-49AA-114C-AB7CB7C9D8F0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9975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F41546B-96BE-527A-F1A7-CF865A004D59}"/>
              </a:ext>
            </a:extLst>
          </p:cNvPr>
          <p:cNvSpPr/>
          <p:nvPr/>
        </p:nvSpPr>
        <p:spPr>
          <a:xfrm>
            <a:off x="0" y="464674"/>
            <a:ext cx="770798" cy="45719"/>
          </a:xfrm>
          <a:prstGeom prst="rect">
            <a:avLst/>
          </a:prstGeom>
          <a:solidFill>
            <a:srgbClr val="3F917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48A68D"/>
              </a:solidFill>
            </a:endParaRP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A8E8173C-BF6A-4A7B-442A-4B2F35B29CD0}"/>
              </a:ext>
            </a:extLst>
          </p:cNvPr>
          <p:cNvSpPr txBox="1"/>
          <p:nvPr/>
        </p:nvSpPr>
        <p:spPr>
          <a:xfrm>
            <a:off x="1012371" y="206504"/>
            <a:ext cx="35596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実装した機能</a:t>
            </a:r>
          </a:p>
        </p:txBody>
      </p:sp>
      <p:pic>
        <p:nvPicPr>
          <p:cNvPr id="54" name="グラフィックス 53" descr="バッジ: チェックマーク 1 単色塗りつぶし">
            <a:extLst>
              <a:ext uri="{FF2B5EF4-FFF2-40B4-BE49-F238E27FC236}">
                <a16:creationId xmlns:a16="http://schemas.microsoft.com/office/drawing/2014/main" id="{209AE320-6722-9406-6277-C24EB6C1C2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8306" y="4915148"/>
            <a:ext cx="686898" cy="686898"/>
          </a:xfrm>
          <a:prstGeom prst="rect">
            <a:avLst/>
          </a:prstGeom>
        </p:spPr>
      </p:pic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C43A0D0B-88C5-C830-B4B7-739BAF833CF2}"/>
              </a:ext>
            </a:extLst>
          </p:cNvPr>
          <p:cNvSpPr txBox="1"/>
          <p:nvPr/>
        </p:nvSpPr>
        <p:spPr>
          <a:xfrm>
            <a:off x="1805572" y="4962963"/>
            <a:ext cx="103899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各</a:t>
            </a:r>
            <a:r>
              <a:rPr kumimoji="1" lang="ja-JP" altLang="en-US" sz="32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機能で 社員・部署の</a:t>
            </a:r>
            <a:r>
              <a:rPr kumimoji="1" lang="en-US" altLang="ja-JP" sz="32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2</a:t>
            </a:r>
            <a:r>
              <a:rPr kumimoji="1" lang="ja-JP" altLang="en-US" sz="32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バージョンを実装</a:t>
            </a:r>
          </a:p>
        </p:txBody>
      </p:sp>
      <p:pic>
        <p:nvPicPr>
          <p:cNvPr id="56" name="グラフィックス 55" descr="バッジ: チェックマーク 1 単色塗りつぶし">
            <a:extLst>
              <a:ext uri="{FF2B5EF4-FFF2-40B4-BE49-F238E27FC236}">
                <a16:creationId xmlns:a16="http://schemas.microsoft.com/office/drawing/2014/main" id="{9FF45F11-9A0D-7466-6025-9447772C97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8306" y="5650268"/>
            <a:ext cx="686898" cy="686898"/>
          </a:xfrm>
          <a:prstGeom prst="rect">
            <a:avLst/>
          </a:prstGeom>
        </p:spPr>
      </p:pic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089DD7F4-CF66-9DC1-70D9-B9C8A5083D47}"/>
              </a:ext>
            </a:extLst>
          </p:cNvPr>
          <p:cNvSpPr txBox="1"/>
          <p:nvPr/>
        </p:nvSpPr>
        <p:spPr>
          <a:xfrm>
            <a:off x="1805572" y="5698083"/>
            <a:ext cx="103899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それぞれのユニーク値の設定などを特に意識</a:t>
            </a:r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FB7DF0D4-0137-2D4E-7A60-B9B69023BE39}"/>
              </a:ext>
            </a:extLst>
          </p:cNvPr>
          <p:cNvSpPr/>
          <p:nvPr/>
        </p:nvSpPr>
        <p:spPr>
          <a:xfrm>
            <a:off x="1654643" y="1303718"/>
            <a:ext cx="3705726" cy="1135781"/>
          </a:xfrm>
          <a:prstGeom prst="roundRect">
            <a:avLst>
              <a:gd name="adj" fmla="val 50000"/>
            </a:avLst>
          </a:prstGeom>
          <a:solidFill>
            <a:srgbClr val="3F917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F6C0F962-D1FB-9CF8-81F8-EAFA219BC63D}"/>
              </a:ext>
            </a:extLst>
          </p:cNvPr>
          <p:cNvSpPr/>
          <p:nvPr/>
        </p:nvSpPr>
        <p:spPr>
          <a:xfrm>
            <a:off x="1654643" y="3187315"/>
            <a:ext cx="3705726" cy="1135781"/>
          </a:xfrm>
          <a:prstGeom prst="roundRect">
            <a:avLst>
              <a:gd name="adj" fmla="val 50000"/>
            </a:avLst>
          </a:prstGeom>
          <a:solidFill>
            <a:srgbClr val="3F917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A6628E31-E821-F55A-BDCF-0BE5E75EA1A0}"/>
              </a:ext>
            </a:extLst>
          </p:cNvPr>
          <p:cNvSpPr/>
          <p:nvPr/>
        </p:nvSpPr>
        <p:spPr>
          <a:xfrm>
            <a:off x="6405050" y="1303718"/>
            <a:ext cx="3705726" cy="1135781"/>
          </a:xfrm>
          <a:prstGeom prst="roundRect">
            <a:avLst>
              <a:gd name="adj" fmla="val 50000"/>
            </a:avLst>
          </a:prstGeom>
          <a:solidFill>
            <a:srgbClr val="3F917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1228E460-1CE4-B554-0DD3-0EC5484BBF99}"/>
              </a:ext>
            </a:extLst>
          </p:cNvPr>
          <p:cNvSpPr/>
          <p:nvPr/>
        </p:nvSpPr>
        <p:spPr>
          <a:xfrm>
            <a:off x="6405050" y="3187315"/>
            <a:ext cx="3705726" cy="1135781"/>
          </a:xfrm>
          <a:prstGeom prst="roundRect">
            <a:avLst>
              <a:gd name="adj" fmla="val 50000"/>
            </a:avLst>
          </a:prstGeom>
          <a:solidFill>
            <a:srgbClr val="3F917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A32F7EF-6E1F-A668-75CC-0CE69E5A6D55}"/>
              </a:ext>
            </a:extLst>
          </p:cNvPr>
          <p:cNvSpPr txBox="1"/>
          <p:nvPr/>
        </p:nvSpPr>
        <p:spPr>
          <a:xfrm>
            <a:off x="1727692" y="1548443"/>
            <a:ext cx="35596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600" b="1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追加機能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1A0D177-06CB-2B24-FD42-4BADC7D2BCE9}"/>
              </a:ext>
            </a:extLst>
          </p:cNvPr>
          <p:cNvSpPr txBox="1"/>
          <p:nvPr/>
        </p:nvSpPr>
        <p:spPr>
          <a:xfrm>
            <a:off x="6478099" y="1548443"/>
            <a:ext cx="35596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600" b="1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一覧表示機能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8CA1A27-A30F-89BD-693E-8A4A1F94597D}"/>
              </a:ext>
            </a:extLst>
          </p:cNvPr>
          <p:cNvSpPr txBox="1"/>
          <p:nvPr/>
        </p:nvSpPr>
        <p:spPr>
          <a:xfrm>
            <a:off x="1727692" y="3432040"/>
            <a:ext cx="35596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600" b="1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削除機能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C0FBDF0-5F66-8325-1719-2EFD58B560E4}"/>
              </a:ext>
            </a:extLst>
          </p:cNvPr>
          <p:cNvSpPr txBox="1"/>
          <p:nvPr/>
        </p:nvSpPr>
        <p:spPr>
          <a:xfrm>
            <a:off x="6478099" y="3432040"/>
            <a:ext cx="35596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600" b="1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更新機能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D5F5CBB5-53C1-F36F-359A-D3A8F4A8E80E}"/>
              </a:ext>
            </a:extLst>
          </p:cNvPr>
          <p:cNvSpPr txBox="1"/>
          <p:nvPr/>
        </p:nvSpPr>
        <p:spPr>
          <a:xfrm>
            <a:off x="11404600" y="64985"/>
            <a:ext cx="787400" cy="514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3500"/>
              </a:lnSpc>
            </a:pPr>
            <a:r>
              <a:rPr lang="en-US" altLang="ja-JP" sz="2800" b="1" dirty="0">
                <a:solidFill>
                  <a:schemeClr val="bg1">
                    <a:lumMod val="6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843824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7ED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0BAEEE-662F-D931-4266-D4F9554F9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E4C34D4B-528C-C7C3-7270-ACB83CC6AD2B}"/>
              </a:ext>
            </a:extLst>
          </p:cNvPr>
          <p:cNvSpPr/>
          <p:nvPr/>
        </p:nvSpPr>
        <p:spPr>
          <a:xfrm>
            <a:off x="0" y="-25400"/>
            <a:ext cx="12192000" cy="8152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楕円 57">
            <a:extLst>
              <a:ext uri="{FF2B5EF4-FFF2-40B4-BE49-F238E27FC236}">
                <a16:creationId xmlns:a16="http://schemas.microsoft.com/office/drawing/2014/main" id="{681E4EC5-D8B6-8F01-D4A3-4A6396731F31}"/>
              </a:ext>
            </a:extLst>
          </p:cNvPr>
          <p:cNvSpPr>
            <a:spLocks/>
          </p:cNvSpPr>
          <p:nvPr/>
        </p:nvSpPr>
        <p:spPr>
          <a:xfrm>
            <a:off x="-549729" y="-1475944"/>
            <a:ext cx="13291457" cy="616131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4C4A27D-AEC5-5BD4-BA93-7F8DD4F5D0C7}"/>
              </a:ext>
            </a:extLst>
          </p:cNvPr>
          <p:cNvSpPr/>
          <p:nvPr/>
        </p:nvSpPr>
        <p:spPr>
          <a:xfrm>
            <a:off x="3186073" y="3686349"/>
            <a:ext cx="2771186" cy="2579697"/>
          </a:xfrm>
          <a:prstGeom prst="rect">
            <a:avLst/>
          </a:prstGeom>
          <a:solidFill>
            <a:schemeClr val="bg1"/>
          </a:solidFill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16133B06-F8DF-A229-5308-0D016F1ECC0B}"/>
              </a:ext>
            </a:extLst>
          </p:cNvPr>
          <p:cNvSpPr/>
          <p:nvPr/>
        </p:nvSpPr>
        <p:spPr>
          <a:xfrm>
            <a:off x="5957259" y="3686349"/>
            <a:ext cx="2771186" cy="2579697"/>
          </a:xfrm>
          <a:prstGeom prst="rect">
            <a:avLst/>
          </a:prstGeom>
          <a:solidFill>
            <a:schemeClr val="bg1"/>
          </a:solidFill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9CEA9432-5E96-3970-20A4-31B60132EB97}"/>
              </a:ext>
            </a:extLst>
          </p:cNvPr>
          <p:cNvSpPr/>
          <p:nvPr/>
        </p:nvSpPr>
        <p:spPr>
          <a:xfrm>
            <a:off x="397766" y="893668"/>
            <a:ext cx="2771186" cy="2579697"/>
          </a:xfrm>
          <a:prstGeom prst="rect">
            <a:avLst/>
          </a:prstGeom>
          <a:solidFill>
            <a:schemeClr val="bg1"/>
          </a:solidFill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DF1CBC0A-93B4-5728-5288-61B3BEDF6F4E}"/>
              </a:ext>
            </a:extLst>
          </p:cNvPr>
          <p:cNvSpPr/>
          <p:nvPr/>
        </p:nvSpPr>
        <p:spPr>
          <a:xfrm>
            <a:off x="3168952" y="893667"/>
            <a:ext cx="2771186" cy="2579697"/>
          </a:xfrm>
          <a:prstGeom prst="rect">
            <a:avLst/>
          </a:prstGeom>
          <a:solidFill>
            <a:schemeClr val="bg1"/>
          </a:solidFill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23A084C5-59BF-62B7-EFF9-770D09315E02}"/>
              </a:ext>
            </a:extLst>
          </p:cNvPr>
          <p:cNvSpPr/>
          <p:nvPr/>
        </p:nvSpPr>
        <p:spPr>
          <a:xfrm>
            <a:off x="5923018" y="893666"/>
            <a:ext cx="2771186" cy="2579697"/>
          </a:xfrm>
          <a:prstGeom prst="rect">
            <a:avLst/>
          </a:prstGeom>
          <a:solidFill>
            <a:schemeClr val="bg1"/>
          </a:solidFill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3AB324AA-6208-4BD1-BE0D-CB7CFC144341}"/>
              </a:ext>
            </a:extLst>
          </p:cNvPr>
          <p:cNvSpPr/>
          <p:nvPr/>
        </p:nvSpPr>
        <p:spPr>
          <a:xfrm>
            <a:off x="397766" y="915320"/>
            <a:ext cx="2771186" cy="429094"/>
          </a:xfrm>
          <a:prstGeom prst="rect">
            <a:avLst/>
          </a:prstGeom>
          <a:solidFill>
            <a:schemeClr val="bg2">
              <a:lumMod val="50000"/>
            </a:schemeClr>
          </a:solidFill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F0E801CC-472E-5D1B-EEA6-B4B76ECCBF64}"/>
              </a:ext>
            </a:extLst>
          </p:cNvPr>
          <p:cNvSpPr/>
          <p:nvPr/>
        </p:nvSpPr>
        <p:spPr>
          <a:xfrm>
            <a:off x="3168952" y="915319"/>
            <a:ext cx="2771186" cy="429094"/>
          </a:xfrm>
          <a:prstGeom prst="rect">
            <a:avLst/>
          </a:prstGeom>
          <a:solidFill>
            <a:schemeClr val="bg2">
              <a:lumMod val="50000"/>
            </a:schemeClr>
          </a:solidFill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0FEBDDB9-B0FB-2206-2971-2764B1DE7538}"/>
              </a:ext>
            </a:extLst>
          </p:cNvPr>
          <p:cNvSpPr/>
          <p:nvPr/>
        </p:nvSpPr>
        <p:spPr>
          <a:xfrm>
            <a:off x="5923018" y="915318"/>
            <a:ext cx="2771186" cy="429094"/>
          </a:xfrm>
          <a:prstGeom prst="rect">
            <a:avLst/>
          </a:prstGeom>
          <a:solidFill>
            <a:schemeClr val="bg2">
              <a:lumMod val="50000"/>
            </a:schemeClr>
          </a:solidFill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B7A8758E-B46E-1A4C-BC91-D1E955AEC416}"/>
              </a:ext>
            </a:extLst>
          </p:cNvPr>
          <p:cNvSpPr/>
          <p:nvPr/>
        </p:nvSpPr>
        <p:spPr>
          <a:xfrm>
            <a:off x="3168952" y="3686350"/>
            <a:ext cx="2771186" cy="533178"/>
          </a:xfrm>
          <a:prstGeom prst="rect">
            <a:avLst/>
          </a:prstGeom>
          <a:solidFill>
            <a:schemeClr val="bg2">
              <a:lumMod val="50000"/>
            </a:schemeClr>
          </a:solidFill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BF27B7BE-E01B-0631-8597-AFD188180922}"/>
              </a:ext>
            </a:extLst>
          </p:cNvPr>
          <p:cNvSpPr/>
          <p:nvPr/>
        </p:nvSpPr>
        <p:spPr>
          <a:xfrm>
            <a:off x="5940138" y="3686350"/>
            <a:ext cx="2771186" cy="533178"/>
          </a:xfrm>
          <a:prstGeom prst="rect">
            <a:avLst/>
          </a:prstGeom>
          <a:solidFill>
            <a:schemeClr val="bg2">
              <a:lumMod val="50000"/>
            </a:schemeClr>
          </a:solidFill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F65CBA1F-A657-3887-C3CE-4F8AC5C7A6CD}"/>
              </a:ext>
            </a:extLst>
          </p:cNvPr>
          <p:cNvCxnSpPr>
            <a:cxnSpLocks/>
          </p:cNvCxnSpPr>
          <p:nvPr/>
        </p:nvCxnSpPr>
        <p:spPr>
          <a:xfrm flipV="1">
            <a:off x="3168952" y="703162"/>
            <a:ext cx="0" cy="661535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C986E3C4-3AB5-ED03-251E-3E0B17BC37A5}"/>
              </a:ext>
            </a:extLst>
          </p:cNvPr>
          <p:cNvCxnSpPr>
            <a:cxnSpLocks/>
          </p:cNvCxnSpPr>
          <p:nvPr/>
        </p:nvCxnSpPr>
        <p:spPr>
          <a:xfrm flipV="1">
            <a:off x="5923018" y="703162"/>
            <a:ext cx="0" cy="661535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0993F134-A85F-A452-9AB6-AF5944D9841C}"/>
              </a:ext>
            </a:extLst>
          </p:cNvPr>
          <p:cNvCxnSpPr>
            <a:cxnSpLocks/>
          </p:cNvCxnSpPr>
          <p:nvPr/>
        </p:nvCxnSpPr>
        <p:spPr>
          <a:xfrm flipV="1">
            <a:off x="5955544" y="3570691"/>
            <a:ext cx="0" cy="661535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4F808DFE-0B8D-DB7F-32B3-564C4CE1B100}"/>
              </a:ext>
            </a:extLst>
          </p:cNvPr>
          <p:cNvSpPr/>
          <p:nvPr/>
        </p:nvSpPr>
        <p:spPr>
          <a:xfrm>
            <a:off x="8702357" y="902133"/>
            <a:ext cx="2771186" cy="2579697"/>
          </a:xfrm>
          <a:prstGeom prst="rect">
            <a:avLst/>
          </a:prstGeom>
          <a:solidFill>
            <a:schemeClr val="bg1"/>
          </a:solidFill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5021B71A-30B9-1A3F-0EBD-C9179FB41ECA}"/>
              </a:ext>
            </a:extLst>
          </p:cNvPr>
          <p:cNvSpPr/>
          <p:nvPr/>
        </p:nvSpPr>
        <p:spPr>
          <a:xfrm>
            <a:off x="8685236" y="902338"/>
            <a:ext cx="2771186" cy="428426"/>
          </a:xfrm>
          <a:prstGeom prst="rect">
            <a:avLst/>
          </a:prstGeom>
          <a:solidFill>
            <a:schemeClr val="bg2">
              <a:lumMod val="50000"/>
            </a:schemeClr>
          </a:solidFill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12E7D23F-466C-F884-A403-6DFA8698E26C}"/>
              </a:ext>
            </a:extLst>
          </p:cNvPr>
          <p:cNvCxnSpPr>
            <a:cxnSpLocks/>
          </p:cNvCxnSpPr>
          <p:nvPr/>
        </p:nvCxnSpPr>
        <p:spPr>
          <a:xfrm flipV="1">
            <a:off x="8705072" y="684872"/>
            <a:ext cx="0" cy="661535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5D86C766-81BE-9FE8-A12B-EEC78F4A933D}"/>
              </a:ext>
            </a:extLst>
          </p:cNvPr>
          <p:cNvSpPr txBox="1"/>
          <p:nvPr/>
        </p:nvSpPr>
        <p:spPr>
          <a:xfrm>
            <a:off x="937154" y="876540"/>
            <a:ext cx="1633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b="1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</a:t>
            </a:r>
            <a:r>
              <a:rPr kumimoji="1" lang="ja-JP" altLang="en-US" sz="2800" b="1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日目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677C2C64-63B1-716C-C07E-B0BAA72687A8}"/>
              </a:ext>
            </a:extLst>
          </p:cNvPr>
          <p:cNvSpPr txBox="1"/>
          <p:nvPr/>
        </p:nvSpPr>
        <p:spPr>
          <a:xfrm>
            <a:off x="3767038" y="876540"/>
            <a:ext cx="1633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b="1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2</a:t>
            </a:r>
            <a:r>
              <a:rPr lang="ja-JP" altLang="en-US" sz="2800" b="1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日目</a:t>
            </a:r>
            <a:endParaRPr kumimoji="1" lang="ja-JP" altLang="en-US" sz="2800" b="1" dirty="0">
              <a:solidFill>
                <a:schemeClr val="bg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919BE1C6-7BB7-DD3B-10CE-653DF919C92C}"/>
              </a:ext>
            </a:extLst>
          </p:cNvPr>
          <p:cNvSpPr txBox="1"/>
          <p:nvPr/>
        </p:nvSpPr>
        <p:spPr>
          <a:xfrm>
            <a:off x="6536053" y="876540"/>
            <a:ext cx="1633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b="1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3</a:t>
            </a:r>
            <a:r>
              <a:rPr lang="ja-JP" altLang="en-US" sz="2800" b="1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日目</a:t>
            </a:r>
            <a:endParaRPr kumimoji="1" lang="ja-JP" altLang="en-US" sz="2800" b="1" dirty="0">
              <a:solidFill>
                <a:schemeClr val="bg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D014CC03-B4A6-EC9D-D51A-B02964C5A1A9}"/>
              </a:ext>
            </a:extLst>
          </p:cNvPr>
          <p:cNvSpPr txBox="1"/>
          <p:nvPr/>
        </p:nvSpPr>
        <p:spPr>
          <a:xfrm>
            <a:off x="9305067" y="876540"/>
            <a:ext cx="1633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b="1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4</a:t>
            </a:r>
            <a:r>
              <a:rPr lang="ja-JP" altLang="en-US" sz="2800" b="1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日目</a:t>
            </a:r>
            <a:endParaRPr kumimoji="1" lang="ja-JP" altLang="en-US" sz="2800" b="1" dirty="0">
              <a:solidFill>
                <a:schemeClr val="bg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783436F5-424C-76EE-0241-487E5AFD90CC}"/>
              </a:ext>
            </a:extLst>
          </p:cNvPr>
          <p:cNvSpPr txBox="1"/>
          <p:nvPr/>
        </p:nvSpPr>
        <p:spPr>
          <a:xfrm>
            <a:off x="3737687" y="3676911"/>
            <a:ext cx="16337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200" b="1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6</a:t>
            </a:r>
            <a:r>
              <a:rPr kumimoji="1" lang="ja-JP" altLang="en-US" sz="3200" b="1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日目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A3E8DB6D-69B4-5A86-65EC-56F559B8466A}"/>
              </a:ext>
            </a:extLst>
          </p:cNvPr>
          <p:cNvSpPr txBox="1"/>
          <p:nvPr/>
        </p:nvSpPr>
        <p:spPr>
          <a:xfrm>
            <a:off x="6567572" y="3660551"/>
            <a:ext cx="16337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200" b="1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7</a:t>
            </a:r>
            <a:r>
              <a:rPr lang="ja-JP" altLang="en-US" sz="3200" b="1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日目</a:t>
            </a:r>
            <a:endParaRPr kumimoji="1" lang="ja-JP" altLang="en-US" sz="3200" b="1" dirty="0">
              <a:solidFill>
                <a:schemeClr val="bg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F5B228F0-0F60-74F9-481A-CCEE485D1D8F}"/>
              </a:ext>
            </a:extLst>
          </p:cNvPr>
          <p:cNvSpPr txBox="1"/>
          <p:nvPr/>
        </p:nvSpPr>
        <p:spPr>
          <a:xfrm>
            <a:off x="550948" y="1462304"/>
            <a:ext cx="30205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テーブル設計</a:t>
            </a:r>
            <a:endParaRPr kumimoji="1" lang="en-US" altLang="ja-JP" sz="2400" b="1" dirty="0">
              <a:solidFill>
                <a:schemeClr val="bg2">
                  <a:lumMod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lang="en-US" altLang="ja-JP" sz="24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ER</a:t>
            </a:r>
            <a:r>
              <a:rPr lang="ja-JP" altLang="en-US" sz="24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図</a:t>
            </a:r>
            <a:endParaRPr lang="en-US" altLang="ja-JP" sz="2400" b="1" dirty="0">
              <a:solidFill>
                <a:schemeClr val="bg2">
                  <a:lumMod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kumimoji="1" lang="ja-JP" altLang="en-US" sz="24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クラス図着手</a:t>
            </a:r>
            <a:endParaRPr kumimoji="1" lang="en-US" altLang="ja-JP" sz="2400" b="1" dirty="0">
              <a:solidFill>
                <a:schemeClr val="bg2">
                  <a:lumMod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lang="ja-JP" altLang="en-US" sz="24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シーケンス図着手</a:t>
            </a:r>
            <a:endParaRPr kumimoji="1" lang="ja-JP" altLang="en-US" sz="2400" b="1" dirty="0">
              <a:solidFill>
                <a:schemeClr val="bg2">
                  <a:lumMod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D36B42B7-FE65-1BBF-EB30-62BBF94CD1AC}"/>
              </a:ext>
            </a:extLst>
          </p:cNvPr>
          <p:cNvSpPr/>
          <p:nvPr/>
        </p:nvSpPr>
        <p:spPr>
          <a:xfrm>
            <a:off x="401814" y="3686144"/>
            <a:ext cx="2771186" cy="2579697"/>
          </a:xfrm>
          <a:prstGeom prst="rect">
            <a:avLst/>
          </a:prstGeom>
          <a:solidFill>
            <a:schemeClr val="bg1"/>
          </a:solidFill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5C7861DA-EE68-C29A-0172-A72325A7FD1C}"/>
              </a:ext>
            </a:extLst>
          </p:cNvPr>
          <p:cNvSpPr/>
          <p:nvPr/>
        </p:nvSpPr>
        <p:spPr>
          <a:xfrm>
            <a:off x="384693" y="3686350"/>
            <a:ext cx="2771186" cy="533178"/>
          </a:xfrm>
          <a:prstGeom prst="rect">
            <a:avLst/>
          </a:prstGeom>
          <a:solidFill>
            <a:schemeClr val="bg2">
              <a:lumMod val="50000"/>
            </a:schemeClr>
          </a:solidFill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6C932FE6-96BF-7537-EFE1-B68EC6D37126}"/>
              </a:ext>
            </a:extLst>
          </p:cNvPr>
          <p:cNvCxnSpPr>
            <a:cxnSpLocks/>
          </p:cNvCxnSpPr>
          <p:nvPr/>
        </p:nvCxnSpPr>
        <p:spPr>
          <a:xfrm flipV="1">
            <a:off x="3188158" y="3570488"/>
            <a:ext cx="0" cy="661535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4840FD3D-5F3A-C7E5-B728-41C21B3ECA9B}"/>
              </a:ext>
            </a:extLst>
          </p:cNvPr>
          <p:cNvSpPr txBox="1"/>
          <p:nvPr/>
        </p:nvSpPr>
        <p:spPr>
          <a:xfrm>
            <a:off x="1002351" y="3660552"/>
            <a:ext cx="16337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200" b="1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5</a:t>
            </a:r>
            <a:r>
              <a:rPr lang="ja-JP" altLang="en-US" sz="3200" b="1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日目</a:t>
            </a:r>
            <a:endParaRPr kumimoji="1" lang="ja-JP" altLang="en-US" sz="3200" b="1" dirty="0">
              <a:solidFill>
                <a:schemeClr val="bg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FD17D903-1067-C156-C621-2DDD27D117C5}"/>
              </a:ext>
            </a:extLst>
          </p:cNvPr>
          <p:cNvSpPr txBox="1"/>
          <p:nvPr/>
        </p:nvSpPr>
        <p:spPr>
          <a:xfrm>
            <a:off x="3294127" y="1436506"/>
            <a:ext cx="30205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クラス図完成</a:t>
            </a:r>
            <a:endParaRPr lang="en-US" altLang="ja-JP" sz="2400" b="1" dirty="0">
              <a:solidFill>
                <a:schemeClr val="bg2">
                  <a:lumMod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kumimoji="1" lang="ja-JP" altLang="en-US" sz="24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シーケンス図完成</a:t>
            </a:r>
            <a:endParaRPr kumimoji="1" lang="en-US" altLang="ja-JP" sz="2400" b="1" dirty="0">
              <a:solidFill>
                <a:schemeClr val="bg2">
                  <a:lumMod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kumimoji="1" lang="ja-JP" altLang="en-US" sz="24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社員登録 実装</a:t>
            </a:r>
            <a:endParaRPr kumimoji="1" lang="en-US" altLang="ja-JP" sz="2400" b="1" dirty="0">
              <a:solidFill>
                <a:schemeClr val="bg2">
                  <a:lumMod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DB7B2749-9E46-2E07-A106-F355DD899726}"/>
              </a:ext>
            </a:extLst>
          </p:cNvPr>
          <p:cNvSpPr txBox="1"/>
          <p:nvPr/>
        </p:nvSpPr>
        <p:spPr>
          <a:xfrm>
            <a:off x="6048192" y="1410708"/>
            <a:ext cx="302052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社員登録 テスト</a:t>
            </a:r>
            <a:endParaRPr lang="en-US" altLang="ja-JP" sz="2400" b="1" dirty="0">
              <a:solidFill>
                <a:schemeClr val="bg2">
                  <a:lumMod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lang="ja-JP" altLang="en-US" sz="24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社員登録 レビュー</a:t>
            </a:r>
            <a:endParaRPr lang="en-US" altLang="ja-JP" sz="2400" b="1" dirty="0">
              <a:solidFill>
                <a:schemeClr val="bg2">
                  <a:lumMod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kumimoji="1" lang="ja-JP" altLang="en-US" sz="24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部署登録 実装</a:t>
            </a:r>
            <a:endParaRPr kumimoji="1" lang="en-US" altLang="ja-JP" sz="2400" b="1" dirty="0">
              <a:solidFill>
                <a:schemeClr val="bg2">
                  <a:lumMod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lang="ja-JP" altLang="en-US" sz="24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部署登録 テスト</a:t>
            </a:r>
            <a:endParaRPr lang="en-US" altLang="ja-JP" sz="2400" b="1" dirty="0">
              <a:solidFill>
                <a:schemeClr val="bg2">
                  <a:lumMod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kumimoji="1" lang="ja-JP" altLang="en-US" sz="24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部署登録 レビュー</a:t>
            </a:r>
            <a:endParaRPr kumimoji="1" lang="en-US" altLang="ja-JP" sz="2400" b="1" dirty="0">
              <a:solidFill>
                <a:schemeClr val="bg2">
                  <a:lumMod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79ED7247-1354-24AE-A7D4-53678BBBE6A1}"/>
              </a:ext>
            </a:extLst>
          </p:cNvPr>
          <p:cNvSpPr txBox="1"/>
          <p:nvPr/>
        </p:nvSpPr>
        <p:spPr>
          <a:xfrm>
            <a:off x="8802257" y="1384910"/>
            <a:ext cx="30205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社員一覧 実装</a:t>
            </a:r>
            <a:endParaRPr lang="en-US" altLang="ja-JP" sz="2400" b="1" dirty="0">
              <a:solidFill>
                <a:schemeClr val="bg2">
                  <a:lumMod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lang="ja-JP" altLang="en-US" sz="24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社員一覧 テスト</a:t>
            </a:r>
            <a:endParaRPr lang="en-US" altLang="ja-JP" sz="2400" b="1" dirty="0">
              <a:solidFill>
                <a:schemeClr val="bg2">
                  <a:lumMod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kumimoji="1" lang="ja-JP" altLang="en-US" sz="24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社員一覧 レビュー</a:t>
            </a:r>
            <a:endParaRPr kumimoji="1" lang="en-US" altLang="ja-JP" sz="2400" b="1" dirty="0">
              <a:solidFill>
                <a:schemeClr val="bg2">
                  <a:lumMod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B5F4DF3F-9A82-B2C6-2311-130E9D924B1D}"/>
              </a:ext>
            </a:extLst>
          </p:cNvPr>
          <p:cNvSpPr txBox="1"/>
          <p:nvPr/>
        </p:nvSpPr>
        <p:spPr>
          <a:xfrm>
            <a:off x="550948" y="4361189"/>
            <a:ext cx="30205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部署一覧 実装</a:t>
            </a:r>
            <a:endParaRPr lang="en-US" altLang="ja-JP" sz="2400" b="1" dirty="0">
              <a:solidFill>
                <a:schemeClr val="bg2">
                  <a:lumMod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kumimoji="1" lang="ja-JP" altLang="en-US" sz="24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部署一覧 テスト</a:t>
            </a:r>
            <a:endParaRPr kumimoji="1" lang="en-US" altLang="ja-JP" sz="2400" b="1" dirty="0">
              <a:solidFill>
                <a:schemeClr val="bg2">
                  <a:lumMod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lang="ja-JP" altLang="en-US" sz="24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部署一覧 レビュー</a:t>
            </a:r>
            <a:endParaRPr lang="en-US" altLang="ja-JP" sz="2400" b="1" dirty="0">
              <a:solidFill>
                <a:schemeClr val="bg2">
                  <a:lumMod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kumimoji="1" lang="ja-JP" altLang="en-US" sz="24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社員削除 実装</a:t>
            </a:r>
            <a:endParaRPr kumimoji="1" lang="en-US" altLang="ja-JP" sz="2400" b="1" dirty="0">
              <a:solidFill>
                <a:schemeClr val="bg2">
                  <a:lumMod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B54ECD3E-1A64-F843-71C6-8C85CC6B42EE}"/>
              </a:ext>
            </a:extLst>
          </p:cNvPr>
          <p:cNvSpPr txBox="1"/>
          <p:nvPr/>
        </p:nvSpPr>
        <p:spPr>
          <a:xfrm>
            <a:off x="3294127" y="4326347"/>
            <a:ext cx="302052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社員削除 テスト</a:t>
            </a:r>
            <a:endParaRPr lang="en-US" altLang="ja-JP" sz="2400" b="1" dirty="0">
              <a:solidFill>
                <a:schemeClr val="bg2">
                  <a:lumMod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lang="ja-JP" altLang="en-US" sz="24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社員削除 レビュー</a:t>
            </a:r>
            <a:endParaRPr lang="en-US" altLang="ja-JP" sz="2400" b="1" dirty="0">
              <a:solidFill>
                <a:schemeClr val="bg2">
                  <a:lumMod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kumimoji="1" lang="ja-JP" altLang="en-US" sz="24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部署削除 実装</a:t>
            </a:r>
            <a:endParaRPr kumimoji="1" lang="en-US" altLang="ja-JP" sz="2400" b="1" dirty="0">
              <a:solidFill>
                <a:schemeClr val="bg2">
                  <a:lumMod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lang="ja-JP" altLang="en-US" sz="24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部署削除 テスト</a:t>
            </a:r>
            <a:endParaRPr lang="en-US" altLang="ja-JP" sz="2400" b="1" dirty="0">
              <a:solidFill>
                <a:schemeClr val="bg2">
                  <a:lumMod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kumimoji="1" lang="ja-JP" altLang="en-US" sz="24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部署削除 レビュー</a:t>
            </a:r>
            <a:endParaRPr kumimoji="1" lang="en-US" altLang="ja-JP" sz="2400" b="1" dirty="0">
              <a:solidFill>
                <a:schemeClr val="bg2">
                  <a:lumMod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A3B445CB-9F7D-FA7B-2CF7-3951C34DA31A}"/>
              </a:ext>
            </a:extLst>
          </p:cNvPr>
          <p:cNvSpPr txBox="1"/>
          <p:nvPr/>
        </p:nvSpPr>
        <p:spPr>
          <a:xfrm>
            <a:off x="5970332" y="4319612"/>
            <a:ext cx="30205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プレゼン準備</a:t>
            </a:r>
            <a:endParaRPr kumimoji="1" lang="en-US" altLang="ja-JP" sz="2400" b="1" dirty="0">
              <a:solidFill>
                <a:schemeClr val="bg2">
                  <a:lumMod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lang="ja-JP" altLang="en-US" sz="24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予備日程</a:t>
            </a:r>
            <a:endParaRPr kumimoji="1" lang="en-US" altLang="ja-JP" sz="2400" b="1" dirty="0">
              <a:solidFill>
                <a:schemeClr val="bg2">
                  <a:lumMod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D0B254BD-E9E9-1C1D-BFD4-12B219E8E0B8}"/>
              </a:ext>
            </a:extLst>
          </p:cNvPr>
          <p:cNvSpPr/>
          <p:nvPr/>
        </p:nvSpPr>
        <p:spPr>
          <a:xfrm>
            <a:off x="0" y="464674"/>
            <a:ext cx="770798" cy="45719"/>
          </a:xfrm>
          <a:prstGeom prst="rect">
            <a:avLst/>
          </a:prstGeom>
          <a:solidFill>
            <a:srgbClr val="3F917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48A68D"/>
              </a:solidFill>
            </a:endParaRPr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53A739D8-E243-42D5-A4C8-003D66382768}"/>
              </a:ext>
            </a:extLst>
          </p:cNvPr>
          <p:cNvSpPr txBox="1"/>
          <p:nvPr/>
        </p:nvSpPr>
        <p:spPr>
          <a:xfrm>
            <a:off x="1012371" y="206504"/>
            <a:ext cx="43753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スケジュール（予定）</a:t>
            </a: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D73C7870-D7AE-5648-F5AD-2D7964E4169F}"/>
              </a:ext>
            </a:extLst>
          </p:cNvPr>
          <p:cNvSpPr txBox="1"/>
          <p:nvPr/>
        </p:nvSpPr>
        <p:spPr>
          <a:xfrm>
            <a:off x="11404600" y="64985"/>
            <a:ext cx="787400" cy="514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3500"/>
              </a:lnSpc>
            </a:pPr>
            <a:r>
              <a:rPr lang="en-US" altLang="ja-JP" sz="2800" b="1" dirty="0">
                <a:solidFill>
                  <a:schemeClr val="bg1">
                    <a:lumMod val="6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454448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7ED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48AAF0-11E9-8AE2-3A4D-60AC2E818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正方形/長方形 75">
            <a:extLst>
              <a:ext uri="{FF2B5EF4-FFF2-40B4-BE49-F238E27FC236}">
                <a16:creationId xmlns:a16="http://schemas.microsoft.com/office/drawing/2014/main" id="{A0C77BBC-16B9-4EDF-A5EB-DADE0D73B8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1999" cy="6199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楕円 57">
            <a:extLst>
              <a:ext uri="{FF2B5EF4-FFF2-40B4-BE49-F238E27FC236}">
                <a16:creationId xmlns:a16="http://schemas.microsoft.com/office/drawing/2014/main" id="{424BE6FA-37A8-177A-A3C2-288C8DBE7803}"/>
              </a:ext>
            </a:extLst>
          </p:cNvPr>
          <p:cNvSpPr>
            <a:spLocks/>
          </p:cNvSpPr>
          <p:nvPr/>
        </p:nvSpPr>
        <p:spPr>
          <a:xfrm>
            <a:off x="-549729" y="-1475944"/>
            <a:ext cx="13291457" cy="616131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EFD2BB7-70BE-B104-9470-124B388B3648}"/>
              </a:ext>
            </a:extLst>
          </p:cNvPr>
          <p:cNvSpPr/>
          <p:nvPr/>
        </p:nvSpPr>
        <p:spPr>
          <a:xfrm>
            <a:off x="3186073" y="3580475"/>
            <a:ext cx="2771186" cy="2367942"/>
          </a:xfrm>
          <a:prstGeom prst="rect">
            <a:avLst/>
          </a:prstGeom>
          <a:solidFill>
            <a:schemeClr val="bg1"/>
          </a:solidFill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2C6C164-8108-D2EF-D775-B61B0E250599}"/>
              </a:ext>
            </a:extLst>
          </p:cNvPr>
          <p:cNvSpPr/>
          <p:nvPr/>
        </p:nvSpPr>
        <p:spPr>
          <a:xfrm>
            <a:off x="5957259" y="3580475"/>
            <a:ext cx="2771186" cy="2367942"/>
          </a:xfrm>
          <a:prstGeom prst="rect">
            <a:avLst/>
          </a:prstGeom>
          <a:solidFill>
            <a:schemeClr val="bg1"/>
          </a:solidFill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B21EECC-0C2B-6F89-1963-CE4FDF78A7CB}"/>
              </a:ext>
            </a:extLst>
          </p:cNvPr>
          <p:cNvSpPr/>
          <p:nvPr/>
        </p:nvSpPr>
        <p:spPr>
          <a:xfrm>
            <a:off x="397766" y="893669"/>
            <a:ext cx="2771186" cy="2430236"/>
          </a:xfrm>
          <a:prstGeom prst="rect">
            <a:avLst/>
          </a:prstGeom>
          <a:solidFill>
            <a:schemeClr val="bg1"/>
          </a:solidFill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E296980-D776-142A-32E8-DCAD408E4DAB}"/>
              </a:ext>
            </a:extLst>
          </p:cNvPr>
          <p:cNvSpPr/>
          <p:nvPr/>
        </p:nvSpPr>
        <p:spPr>
          <a:xfrm>
            <a:off x="3168952" y="893668"/>
            <a:ext cx="2771186" cy="2430236"/>
          </a:xfrm>
          <a:prstGeom prst="rect">
            <a:avLst/>
          </a:prstGeom>
          <a:solidFill>
            <a:schemeClr val="bg1"/>
          </a:solidFill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6BCB096-6AD0-8E45-EF64-1C9EDD2C5B3C}"/>
              </a:ext>
            </a:extLst>
          </p:cNvPr>
          <p:cNvSpPr/>
          <p:nvPr/>
        </p:nvSpPr>
        <p:spPr>
          <a:xfrm>
            <a:off x="5923018" y="893667"/>
            <a:ext cx="2771186" cy="2430236"/>
          </a:xfrm>
          <a:prstGeom prst="rect">
            <a:avLst/>
          </a:prstGeom>
          <a:solidFill>
            <a:schemeClr val="bg1"/>
          </a:solidFill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CEC8341-D849-CD9D-EB92-DF921217CA2F}"/>
              </a:ext>
            </a:extLst>
          </p:cNvPr>
          <p:cNvSpPr/>
          <p:nvPr/>
        </p:nvSpPr>
        <p:spPr>
          <a:xfrm>
            <a:off x="397766" y="915320"/>
            <a:ext cx="2771186" cy="429094"/>
          </a:xfrm>
          <a:prstGeom prst="rect">
            <a:avLst/>
          </a:prstGeom>
          <a:solidFill>
            <a:schemeClr val="bg2">
              <a:lumMod val="50000"/>
            </a:schemeClr>
          </a:solidFill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705174E-DEC6-41E9-6FC8-A0D6639944E8}"/>
              </a:ext>
            </a:extLst>
          </p:cNvPr>
          <p:cNvSpPr/>
          <p:nvPr/>
        </p:nvSpPr>
        <p:spPr>
          <a:xfrm>
            <a:off x="3168952" y="915319"/>
            <a:ext cx="2771186" cy="429094"/>
          </a:xfrm>
          <a:prstGeom prst="rect">
            <a:avLst/>
          </a:prstGeom>
          <a:solidFill>
            <a:schemeClr val="bg2">
              <a:lumMod val="50000"/>
            </a:schemeClr>
          </a:solidFill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F2ACE485-647F-1BC0-6F86-FF3E33EB5D07}"/>
              </a:ext>
            </a:extLst>
          </p:cNvPr>
          <p:cNvSpPr/>
          <p:nvPr/>
        </p:nvSpPr>
        <p:spPr>
          <a:xfrm>
            <a:off x="5923018" y="915318"/>
            <a:ext cx="2771186" cy="429094"/>
          </a:xfrm>
          <a:prstGeom prst="rect">
            <a:avLst/>
          </a:prstGeom>
          <a:solidFill>
            <a:schemeClr val="bg2">
              <a:lumMod val="50000"/>
            </a:schemeClr>
          </a:solidFill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9C47B556-BFAD-6E16-6B79-753045B867D6}"/>
              </a:ext>
            </a:extLst>
          </p:cNvPr>
          <p:cNvSpPr/>
          <p:nvPr/>
        </p:nvSpPr>
        <p:spPr>
          <a:xfrm>
            <a:off x="3168952" y="3580475"/>
            <a:ext cx="2771186" cy="533178"/>
          </a:xfrm>
          <a:prstGeom prst="rect">
            <a:avLst/>
          </a:prstGeom>
          <a:solidFill>
            <a:schemeClr val="bg2">
              <a:lumMod val="50000"/>
            </a:schemeClr>
          </a:solidFill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903AEC6A-54A1-C46C-AEA9-74C6C25608C7}"/>
              </a:ext>
            </a:extLst>
          </p:cNvPr>
          <p:cNvSpPr/>
          <p:nvPr/>
        </p:nvSpPr>
        <p:spPr>
          <a:xfrm>
            <a:off x="5940138" y="3580475"/>
            <a:ext cx="2771186" cy="533178"/>
          </a:xfrm>
          <a:prstGeom prst="rect">
            <a:avLst/>
          </a:prstGeom>
          <a:solidFill>
            <a:schemeClr val="bg2">
              <a:lumMod val="50000"/>
            </a:schemeClr>
          </a:solidFill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9" name="直線コネクタ 48">
            <a:extLst>
              <a:ext uri="{FF2B5EF4-FFF2-40B4-BE49-F238E27FC236}">
                <a16:creationId xmlns:a16="http://schemas.microsoft.com/office/drawing/2014/main" id="{FCEF625F-0C54-D51B-2BF3-5C5A10522047}"/>
              </a:ext>
            </a:extLst>
          </p:cNvPr>
          <p:cNvCxnSpPr>
            <a:cxnSpLocks/>
          </p:cNvCxnSpPr>
          <p:nvPr/>
        </p:nvCxnSpPr>
        <p:spPr>
          <a:xfrm flipV="1">
            <a:off x="3168952" y="703162"/>
            <a:ext cx="0" cy="661535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3795B068-A46D-7252-A926-A491DB5CFD8E}"/>
              </a:ext>
            </a:extLst>
          </p:cNvPr>
          <p:cNvCxnSpPr>
            <a:cxnSpLocks/>
          </p:cNvCxnSpPr>
          <p:nvPr/>
        </p:nvCxnSpPr>
        <p:spPr>
          <a:xfrm flipV="1">
            <a:off x="5923018" y="703162"/>
            <a:ext cx="0" cy="661535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id="{01972359-2DC8-DCD2-448D-24B11903D3BE}"/>
              </a:ext>
            </a:extLst>
          </p:cNvPr>
          <p:cNvCxnSpPr>
            <a:cxnSpLocks/>
          </p:cNvCxnSpPr>
          <p:nvPr/>
        </p:nvCxnSpPr>
        <p:spPr>
          <a:xfrm flipV="1">
            <a:off x="5955544" y="3464816"/>
            <a:ext cx="0" cy="661535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4A44A944-3A17-759C-3DAC-AF4602767BD4}"/>
              </a:ext>
            </a:extLst>
          </p:cNvPr>
          <p:cNvSpPr/>
          <p:nvPr/>
        </p:nvSpPr>
        <p:spPr>
          <a:xfrm>
            <a:off x="8702357" y="902134"/>
            <a:ext cx="2771186" cy="2430236"/>
          </a:xfrm>
          <a:prstGeom prst="rect">
            <a:avLst/>
          </a:prstGeom>
          <a:solidFill>
            <a:schemeClr val="bg1"/>
          </a:solidFill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3C9330F4-C2B9-94ED-2E0F-E45529CA72AA}"/>
              </a:ext>
            </a:extLst>
          </p:cNvPr>
          <p:cNvSpPr/>
          <p:nvPr/>
        </p:nvSpPr>
        <p:spPr>
          <a:xfrm>
            <a:off x="8685236" y="902338"/>
            <a:ext cx="2771186" cy="428426"/>
          </a:xfrm>
          <a:prstGeom prst="rect">
            <a:avLst/>
          </a:prstGeom>
          <a:solidFill>
            <a:schemeClr val="bg2">
              <a:lumMod val="50000"/>
            </a:schemeClr>
          </a:solidFill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54" name="直線コネクタ 53">
            <a:extLst>
              <a:ext uri="{FF2B5EF4-FFF2-40B4-BE49-F238E27FC236}">
                <a16:creationId xmlns:a16="http://schemas.microsoft.com/office/drawing/2014/main" id="{A4B26B69-95DD-230D-CA1B-094C4DE659DE}"/>
              </a:ext>
            </a:extLst>
          </p:cNvPr>
          <p:cNvCxnSpPr>
            <a:cxnSpLocks/>
          </p:cNvCxnSpPr>
          <p:nvPr/>
        </p:nvCxnSpPr>
        <p:spPr>
          <a:xfrm flipV="1">
            <a:off x="8705072" y="684872"/>
            <a:ext cx="0" cy="661535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EA9A9F56-3897-94EC-6F77-1E7E450511F5}"/>
              </a:ext>
            </a:extLst>
          </p:cNvPr>
          <p:cNvSpPr txBox="1"/>
          <p:nvPr/>
        </p:nvSpPr>
        <p:spPr>
          <a:xfrm>
            <a:off x="937154" y="876540"/>
            <a:ext cx="1633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b="1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</a:t>
            </a:r>
            <a:r>
              <a:rPr kumimoji="1" lang="ja-JP" altLang="en-US" sz="2800" b="1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日目</a:t>
            </a:r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778B169F-E1A0-1263-71F2-C7C10D4F7121}"/>
              </a:ext>
            </a:extLst>
          </p:cNvPr>
          <p:cNvSpPr txBox="1"/>
          <p:nvPr/>
        </p:nvSpPr>
        <p:spPr>
          <a:xfrm>
            <a:off x="3767038" y="876540"/>
            <a:ext cx="1633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b="1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2</a:t>
            </a:r>
            <a:r>
              <a:rPr lang="ja-JP" altLang="en-US" sz="2800" b="1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日目</a:t>
            </a:r>
            <a:endParaRPr kumimoji="1" lang="ja-JP" altLang="en-US" sz="2800" b="1" dirty="0">
              <a:solidFill>
                <a:schemeClr val="bg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E7F7A703-B432-9FA6-0A52-3ED55EB26483}"/>
              </a:ext>
            </a:extLst>
          </p:cNvPr>
          <p:cNvSpPr txBox="1"/>
          <p:nvPr/>
        </p:nvSpPr>
        <p:spPr>
          <a:xfrm>
            <a:off x="6536053" y="876540"/>
            <a:ext cx="1633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b="1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3</a:t>
            </a:r>
            <a:r>
              <a:rPr lang="ja-JP" altLang="en-US" sz="2800" b="1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日目</a:t>
            </a:r>
            <a:endParaRPr kumimoji="1" lang="ja-JP" altLang="en-US" sz="2800" b="1" dirty="0">
              <a:solidFill>
                <a:schemeClr val="bg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82CDA32C-06D2-3814-3668-1079E536666E}"/>
              </a:ext>
            </a:extLst>
          </p:cNvPr>
          <p:cNvSpPr txBox="1"/>
          <p:nvPr/>
        </p:nvSpPr>
        <p:spPr>
          <a:xfrm>
            <a:off x="9305067" y="876540"/>
            <a:ext cx="1633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b="1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4</a:t>
            </a:r>
            <a:r>
              <a:rPr lang="ja-JP" altLang="en-US" sz="2800" b="1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日目</a:t>
            </a:r>
            <a:endParaRPr kumimoji="1" lang="ja-JP" altLang="en-US" sz="2800" b="1" dirty="0">
              <a:solidFill>
                <a:schemeClr val="bg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0FBCE21A-BE6E-F383-02A5-E082FAA3F4B0}"/>
              </a:ext>
            </a:extLst>
          </p:cNvPr>
          <p:cNvSpPr txBox="1"/>
          <p:nvPr/>
        </p:nvSpPr>
        <p:spPr>
          <a:xfrm>
            <a:off x="3737687" y="3571036"/>
            <a:ext cx="16337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200" b="1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6</a:t>
            </a:r>
            <a:r>
              <a:rPr kumimoji="1" lang="ja-JP" altLang="en-US" sz="3200" b="1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日目</a:t>
            </a:r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6FCA85E5-C688-CACA-9436-9CEE2CE3A2F9}"/>
              </a:ext>
            </a:extLst>
          </p:cNvPr>
          <p:cNvSpPr txBox="1"/>
          <p:nvPr/>
        </p:nvSpPr>
        <p:spPr>
          <a:xfrm>
            <a:off x="6567572" y="3554676"/>
            <a:ext cx="16337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200" b="1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7</a:t>
            </a:r>
            <a:r>
              <a:rPr lang="ja-JP" altLang="en-US" sz="3200" b="1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日目</a:t>
            </a:r>
            <a:endParaRPr kumimoji="1" lang="ja-JP" altLang="en-US" sz="3200" b="1" dirty="0">
              <a:solidFill>
                <a:schemeClr val="bg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904ACA15-A608-D3E9-4BD5-0A19AE3F2553}"/>
              </a:ext>
            </a:extLst>
          </p:cNvPr>
          <p:cNvSpPr txBox="1"/>
          <p:nvPr/>
        </p:nvSpPr>
        <p:spPr>
          <a:xfrm>
            <a:off x="550948" y="1462304"/>
            <a:ext cx="30205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テーブル設計</a:t>
            </a:r>
            <a:endParaRPr kumimoji="1" lang="en-US" altLang="ja-JP" sz="2400" b="1" dirty="0">
              <a:solidFill>
                <a:schemeClr val="bg2">
                  <a:lumMod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lang="en-US" altLang="ja-JP" sz="24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ER</a:t>
            </a:r>
            <a:r>
              <a:rPr lang="ja-JP" altLang="en-US" sz="24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図</a:t>
            </a:r>
            <a:endParaRPr lang="en-US" altLang="ja-JP" sz="2400" b="1" dirty="0">
              <a:solidFill>
                <a:schemeClr val="bg2">
                  <a:lumMod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kumimoji="1" lang="ja-JP" altLang="en-US" sz="24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クラス図着手</a:t>
            </a:r>
            <a:endParaRPr kumimoji="1" lang="en-US" altLang="ja-JP" sz="2400" b="1" dirty="0">
              <a:solidFill>
                <a:schemeClr val="bg2">
                  <a:lumMod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lang="ja-JP" altLang="en-US" sz="24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シーケンス図着手</a:t>
            </a:r>
            <a:endParaRPr kumimoji="1" lang="ja-JP" altLang="en-US" sz="2400" b="1" dirty="0">
              <a:solidFill>
                <a:schemeClr val="bg2">
                  <a:lumMod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1BE91BDD-F5E0-C2FC-FAE4-CBC26B5A4382}"/>
              </a:ext>
            </a:extLst>
          </p:cNvPr>
          <p:cNvSpPr/>
          <p:nvPr/>
        </p:nvSpPr>
        <p:spPr>
          <a:xfrm>
            <a:off x="401814" y="3580270"/>
            <a:ext cx="2771186" cy="2367942"/>
          </a:xfrm>
          <a:prstGeom prst="rect">
            <a:avLst/>
          </a:prstGeom>
          <a:solidFill>
            <a:schemeClr val="bg1"/>
          </a:solidFill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589F7C80-918F-414B-E6F2-203B7CB4D321}"/>
              </a:ext>
            </a:extLst>
          </p:cNvPr>
          <p:cNvSpPr/>
          <p:nvPr/>
        </p:nvSpPr>
        <p:spPr>
          <a:xfrm>
            <a:off x="384693" y="3580475"/>
            <a:ext cx="2771186" cy="533178"/>
          </a:xfrm>
          <a:prstGeom prst="rect">
            <a:avLst/>
          </a:prstGeom>
          <a:solidFill>
            <a:schemeClr val="bg2">
              <a:lumMod val="50000"/>
            </a:schemeClr>
          </a:solidFill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65" name="直線コネクタ 64">
            <a:extLst>
              <a:ext uri="{FF2B5EF4-FFF2-40B4-BE49-F238E27FC236}">
                <a16:creationId xmlns:a16="http://schemas.microsoft.com/office/drawing/2014/main" id="{68CA2DB5-B7A7-CC69-E57B-D4E28209842F}"/>
              </a:ext>
            </a:extLst>
          </p:cNvPr>
          <p:cNvCxnSpPr>
            <a:cxnSpLocks/>
          </p:cNvCxnSpPr>
          <p:nvPr/>
        </p:nvCxnSpPr>
        <p:spPr>
          <a:xfrm flipV="1">
            <a:off x="3188158" y="3464613"/>
            <a:ext cx="0" cy="661535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テキスト ボックス 65">
            <a:extLst>
              <a:ext uri="{FF2B5EF4-FFF2-40B4-BE49-F238E27FC236}">
                <a16:creationId xmlns:a16="http://schemas.microsoft.com/office/drawing/2014/main" id="{64D7F311-81DC-1DE3-BA88-6DC73FC37A72}"/>
              </a:ext>
            </a:extLst>
          </p:cNvPr>
          <p:cNvSpPr txBox="1"/>
          <p:nvPr/>
        </p:nvSpPr>
        <p:spPr>
          <a:xfrm>
            <a:off x="1002351" y="3554677"/>
            <a:ext cx="16337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200" b="1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5</a:t>
            </a:r>
            <a:r>
              <a:rPr lang="ja-JP" altLang="en-US" sz="3200" b="1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日目</a:t>
            </a:r>
            <a:endParaRPr kumimoji="1" lang="ja-JP" altLang="en-US" sz="3200" b="1" dirty="0">
              <a:solidFill>
                <a:schemeClr val="bg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9B9A08CF-B27E-456C-C6BA-A7C5D67AF853}"/>
              </a:ext>
            </a:extLst>
          </p:cNvPr>
          <p:cNvSpPr txBox="1"/>
          <p:nvPr/>
        </p:nvSpPr>
        <p:spPr>
          <a:xfrm>
            <a:off x="3294127" y="1436506"/>
            <a:ext cx="30205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クラス図完成</a:t>
            </a:r>
            <a:endParaRPr lang="en-US" altLang="ja-JP" sz="2400" b="1" dirty="0">
              <a:solidFill>
                <a:schemeClr val="bg2">
                  <a:lumMod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kumimoji="1" lang="ja-JP" altLang="en-US" sz="24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シーケンス図完成</a:t>
            </a:r>
            <a:endParaRPr kumimoji="1" lang="en-US" altLang="ja-JP" sz="2400" b="1" dirty="0">
              <a:solidFill>
                <a:schemeClr val="bg2">
                  <a:lumMod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kumimoji="1" lang="ja-JP" altLang="en-US" sz="2400" b="1" dirty="0">
                <a:solidFill>
                  <a:srgbClr val="3F917C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社員登録 実装</a:t>
            </a:r>
            <a:endParaRPr kumimoji="1" lang="en-US" altLang="ja-JP" sz="2400" b="1" dirty="0">
              <a:solidFill>
                <a:srgbClr val="3F917C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lang="ja-JP" altLang="en-US" sz="2400" b="1" dirty="0">
                <a:solidFill>
                  <a:srgbClr val="C7643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社員登録 テスト</a:t>
            </a:r>
            <a:endParaRPr lang="en-US" altLang="ja-JP" sz="2400" b="1" dirty="0">
              <a:solidFill>
                <a:srgbClr val="C76433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ACC4FD97-7DD0-E37A-45E9-104B9CCF945D}"/>
              </a:ext>
            </a:extLst>
          </p:cNvPr>
          <p:cNvSpPr txBox="1"/>
          <p:nvPr/>
        </p:nvSpPr>
        <p:spPr>
          <a:xfrm>
            <a:off x="6048192" y="1410708"/>
            <a:ext cx="302052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>
                <a:solidFill>
                  <a:srgbClr val="3F917C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部署登録 実装</a:t>
            </a:r>
            <a:endParaRPr kumimoji="1" lang="en-US" altLang="ja-JP" sz="2400" b="1" dirty="0">
              <a:solidFill>
                <a:srgbClr val="3F917C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lang="ja-JP" altLang="en-US" sz="2400" b="1" dirty="0">
                <a:solidFill>
                  <a:srgbClr val="3F917C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社員一覧 実装</a:t>
            </a:r>
            <a:endParaRPr lang="en-US" altLang="ja-JP" sz="2400" b="1" dirty="0">
              <a:solidFill>
                <a:srgbClr val="3F917C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lang="ja-JP" altLang="en-US" sz="2400" b="1" dirty="0">
                <a:solidFill>
                  <a:srgbClr val="3F917C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部署一覧 実装</a:t>
            </a:r>
            <a:endParaRPr lang="en-US" altLang="ja-JP" sz="2400" b="1" dirty="0">
              <a:solidFill>
                <a:srgbClr val="3F917C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lang="ja-JP" altLang="en-US" sz="2400" b="1" dirty="0">
                <a:solidFill>
                  <a:srgbClr val="C7643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社員登録 テスト</a:t>
            </a:r>
            <a:endParaRPr lang="en-US" altLang="ja-JP" sz="2400" b="1" dirty="0">
              <a:solidFill>
                <a:srgbClr val="3F917C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endParaRPr kumimoji="1" lang="en-US" altLang="ja-JP" sz="2400" b="1" dirty="0">
              <a:solidFill>
                <a:schemeClr val="bg2">
                  <a:lumMod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5C1419C3-A795-98C5-636B-396ADC7FD048}"/>
              </a:ext>
            </a:extLst>
          </p:cNvPr>
          <p:cNvSpPr txBox="1"/>
          <p:nvPr/>
        </p:nvSpPr>
        <p:spPr>
          <a:xfrm>
            <a:off x="8802257" y="1384910"/>
            <a:ext cx="302052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>
                <a:solidFill>
                  <a:srgbClr val="C7643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社員登録 テスト</a:t>
            </a:r>
            <a:endParaRPr lang="en-US" altLang="ja-JP" sz="2400" b="1" dirty="0">
              <a:solidFill>
                <a:srgbClr val="C76433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lang="ja-JP" altLang="en-US" sz="2400" b="1" dirty="0">
                <a:solidFill>
                  <a:srgbClr val="C7643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部署登録 テスト</a:t>
            </a:r>
            <a:endParaRPr lang="en-US" altLang="ja-JP" sz="2400" b="1" dirty="0">
              <a:solidFill>
                <a:srgbClr val="C76433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lang="ja-JP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社員一覧 テスト</a:t>
            </a:r>
            <a:endParaRPr lang="en-US" altLang="ja-JP" sz="2400" b="1" dirty="0">
              <a:solidFill>
                <a:schemeClr val="tx1">
                  <a:lumMod val="85000"/>
                  <a:lumOff val="1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lang="ja-JP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部署一覧 テスト</a:t>
            </a:r>
            <a:endParaRPr lang="en-US" altLang="ja-JP" sz="2400" b="1" dirty="0">
              <a:solidFill>
                <a:schemeClr val="tx1">
                  <a:lumMod val="85000"/>
                  <a:lumOff val="1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lang="ja-JP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ここまでのレビュー</a:t>
            </a:r>
            <a:endParaRPr lang="en-US" altLang="ja-JP" sz="2000" b="1" dirty="0">
              <a:solidFill>
                <a:schemeClr val="tx1">
                  <a:lumMod val="85000"/>
                  <a:lumOff val="1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222B277E-73D1-3EDF-8875-7AF17ED9E173}"/>
              </a:ext>
            </a:extLst>
          </p:cNvPr>
          <p:cNvSpPr txBox="1"/>
          <p:nvPr/>
        </p:nvSpPr>
        <p:spPr>
          <a:xfrm>
            <a:off x="550948" y="4255314"/>
            <a:ext cx="30205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>
                <a:solidFill>
                  <a:srgbClr val="3F917C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社員削除 実装</a:t>
            </a:r>
            <a:endParaRPr kumimoji="1" lang="en-US" altLang="ja-JP" sz="2400" b="1" dirty="0">
              <a:solidFill>
                <a:srgbClr val="3F917C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lang="ja-JP" altLang="en-US" sz="2400" b="1" dirty="0">
                <a:solidFill>
                  <a:srgbClr val="C7643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部署削除 実装</a:t>
            </a:r>
            <a:endParaRPr lang="en-US" altLang="ja-JP" sz="2400" b="1" dirty="0">
              <a:solidFill>
                <a:srgbClr val="C76433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kumimoji="1" lang="ja-JP" altLang="en-US" sz="2400" b="1" dirty="0">
                <a:solidFill>
                  <a:srgbClr val="C7643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社員削除 テスト</a:t>
            </a:r>
            <a:endParaRPr kumimoji="1" lang="en-US" altLang="ja-JP" sz="2400" b="1" dirty="0">
              <a:solidFill>
                <a:srgbClr val="C76433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lang="ja-JP" altLang="en-US" sz="2400" b="1" dirty="0">
                <a:solidFill>
                  <a:srgbClr val="C7643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部署削除 テスト</a:t>
            </a:r>
            <a:endParaRPr kumimoji="1" lang="en-US" altLang="ja-JP" sz="2400" b="1" dirty="0">
              <a:solidFill>
                <a:srgbClr val="C76433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A5F2653B-032F-9E7C-EE06-6183ABA999B8}"/>
              </a:ext>
            </a:extLst>
          </p:cNvPr>
          <p:cNvSpPr txBox="1"/>
          <p:nvPr/>
        </p:nvSpPr>
        <p:spPr>
          <a:xfrm>
            <a:off x="3294127" y="4220472"/>
            <a:ext cx="240071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社員更新 実装</a:t>
            </a:r>
            <a:endParaRPr lang="en-US" altLang="ja-JP" sz="2400" b="1" dirty="0">
              <a:solidFill>
                <a:schemeClr val="bg2">
                  <a:lumMod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kumimoji="1" lang="ja-JP" altLang="en-US" sz="24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部署更新 実装</a:t>
            </a:r>
            <a:endParaRPr kumimoji="1" lang="en-US" altLang="ja-JP" sz="2400" b="1" dirty="0">
              <a:solidFill>
                <a:schemeClr val="bg2">
                  <a:lumMod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lang="ja-JP" altLang="en-US" sz="24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社員更新 テスト</a:t>
            </a:r>
            <a:endParaRPr lang="en-US" altLang="ja-JP" sz="2400" b="1" dirty="0">
              <a:solidFill>
                <a:schemeClr val="bg2">
                  <a:lumMod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kumimoji="1" lang="ja-JP" altLang="en-US" sz="24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部署更新 テスト</a:t>
            </a:r>
            <a:endParaRPr kumimoji="1" lang="en-US" altLang="ja-JP" sz="2400" b="1" dirty="0">
              <a:solidFill>
                <a:schemeClr val="bg2">
                  <a:lumMod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5028AA91-49C9-4F24-1F50-BBCD1770A5F2}"/>
              </a:ext>
            </a:extLst>
          </p:cNvPr>
          <p:cNvSpPr txBox="1"/>
          <p:nvPr/>
        </p:nvSpPr>
        <p:spPr>
          <a:xfrm>
            <a:off x="5970332" y="4213737"/>
            <a:ext cx="30205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プレゼン準備</a:t>
            </a:r>
            <a:endParaRPr kumimoji="1" lang="en-US" altLang="ja-JP" sz="2400" b="1" dirty="0">
              <a:solidFill>
                <a:schemeClr val="bg2">
                  <a:lumMod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lang="ja-JP" altLang="en-US" sz="24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予備日程</a:t>
            </a:r>
            <a:endParaRPr kumimoji="1" lang="en-US" altLang="ja-JP" sz="2400" b="1" dirty="0">
              <a:solidFill>
                <a:schemeClr val="bg2">
                  <a:lumMod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F19DAC02-7203-E391-119C-A7C50BF60550}"/>
              </a:ext>
            </a:extLst>
          </p:cNvPr>
          <p:cNvSpPr txBox="1"/>
          <p:nvPr/>
        </p:nvSpPr>
        <p:spPr>
          <a:xfrm>
            <a:off x="5834934" y="6286161"/>
            <a:ext cx="71206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b="1" dirty="0">
                <a:solidFill>
                  <a:srgbClr val="3F917C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早く終わったタスク　</a:t>
            </a:r>
            <a:r>
              <a:rPr kumimoji="1" lang="ja-JP" altLang="en-US" sz="2000" b="1" dirty="0">
                <a:solidFill>
                  <a:srgbClr val="C7643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想定より時間がかかったタスク</a:t>
            </a:r>
            <a:endParaRPr kumimoji="1" lang="en-US" altLang="ja-JP" sz="2000" b="1" dirty="0">
              <a:solidFill>
                <a:srgbClr val="C76433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74" name="正方形/長方形 73">
            <a:extLst>
              <a:ext uri="{FF2B5EF4-FFF2-40B4-BE49-F238E27FC236}">
                <a16:creationId xmlns:a16="http://schemas.microsoft.com/office/drawing/2014/main" id="{3A10AD8F-2184-0FB0-80A3-EE8EED473ECC}"/>
              </a:ext>
            </a:extLst>
          </p:cNvPr>
          <p:cNvSpPr/>
          <p:nvPr/>
        </p:nvSpPr>
        <p:spPr>
          <a:xfrm>
            <a:off x="3294127" y="4213737"/>
            <a:ext cx="2540807" cy="1563790"/>
          </a:xfrm>
          <a:prstGeom prst="rect">
            <a:avLst/>
          </a:prstGeom>
          <a:noFill/>
          <a:ln w="57150">
            <a:solidFill>
              <a:srgbClr val="CF35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004ED77D-CBBE-88C2-44BA-0FA1C58C3D3B}"/>
              </a:ext>
            </a:extLst>
          </p:cNvPr>
          <p:cNvSpPr txBox="1"/>
          <p:nvPr/>
        </p:nvSpPr>
        <p:spPr>
          <a:xfrm>
            <a:off x="8990858" y="4544653"/>
            <a:ext cx="33381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>
                <a:solidFill>
                  <a:srgbClr val="CF35B2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当初の予定には</a:t>
            </a:r>
            <a:endParaRPr lang="en-US" altLang="ja-JP" sz="2400" b="1" dirty="0">
              <a:solidFill>
                <a:srgbClr val="CF35B2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kumimoji="1" lang="ja-JP" altLang="en-US" sz="2400" b="1" dirty="0">
                <a:solidFill>
                  <a:srgbClr val="CF35B2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なかったが</a:t>
            </a:r>
            <a:endParaRPr kumimoji="1" lang="en-US" altLang="ja-JP" sz="2400" b="1" dirty="0">
              <a:solidFill>
                <a:srgbClr val="CF35B2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lang="ja-JP" altLang="en-US" sz="2400" b="1" dirty="0">
                <a:solidFill>
                  <a:srgbClr val="CF35B2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追加で行ったタスク</a:t>
            </a:r>
            <a:endParaRPr kumimoji="1" lang="en-US" altLang="ja-JP" sz="2400" b="1" dirty="0">
              <a:solidFill>
                <a:srgbClr val="CF35B2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74082BA5-CA95-08E1-233D-368951F35BCC}"/>
              </a:ext>
            </a:extLst>
          </p:cNvPr>
          <p:cNvSpPr/>
          <p:nvPr/>
        </p:nvSpPr>
        <p:spPr>
          <a:xfrm>
            <a:off x="0" y="464674"/>
            <a:ext cx="770798" cy="45719"/>
          </a:xfrm>
          <a:prstGeom prst="rect">
            <a:avLst/>
          </a:prstGeom>
          <a:solidFill>
            <a:srgbClr val="3F917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48A68D"/>
              </a:solidFill>
            </a:endParaRPr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4C8AC557-CDFB-386D-7198-FF8278330DE4}"/>
              </a:ext>
            </a:extLst>
          </p:cNvPr>
          <p:cNvSpPr txBox="1"/>
          <p:nvPr/>
        </p:nvSpPr>
        <p:spPr>
          <a:xfrm>
            <a:off x="1012371" y="206504"/>
            <a:ext cx="43753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スケジュール（実際）</a:t>
            </a:r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9F9F51EE-2037-E930-30AD-7EE4BDBEAE14}"/>
              </a:ext>
            </a:extLst>
          </p:cNvPr>
          <p:cNvSpPr txBox="1"/>
          <p:nvPr/>
        </p:nvSpPr>
        <p:spPr>
          <a:xfrm>
            <a:off x="11404600" y="64985"/>
            <a:ext cx="787400" cy="514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3500"/>
              </a:lnSpc>
            </a:pPr>
            <a:r>
              <a:rPr lang="en-US" altLang="ja-JP" sz="2800" b="1" dirty="0">
                <a:solidFill>
                  <a:schemeClr val="bg1">
                    <a:lumMod val="6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945452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7ED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2577DC-F16F-38E6-E7B1-FBAE11D12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楕円 4">
            <a:extLst>
              <a:ext uri="{FF2B5EF4-FFF2-40B4-BE49-F238E27FC236}">
                <a16:creationId xmlns:a16="http://schemas.microsoft.com/office/drawing/2014/main" id="{66DA7A12-BC64-1A26-845F-5EF14E7F8B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549729" y="-1475944"/>
            <a:ext cx="13291457" cy="616131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62EF549-F0B5-6729-24F4-C9FD4826067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21744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" name="画面録画">
            <a:hlinkClick r:id="" action="ppaction://media"/>
            <a:extLst>
              <a:ext uri="{FF2B5EF4-FFF2-40B4-BE49-F238E27FC236}">
                <a16:creationId xmlns:a16="http://schemas.microsoft.com/office/drawing/2014/main" id="{68B579EB-260C-762D-90FA-596A8CD3C4C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07903" y="927387"/>
            <a:ext cx="10176194" cy="5724109"/>
          </a:xfrm>
          <a:prstGeom prst="rect">
            <a:avLst/>
          </a:prstGeom>
          <a:ln w="38100">
            <a:solidFill>
              <a:schemeClr val="bg2">
                <a:lumMod val="75000"/>
              </a:schemeClr>
            </a:solidFill>
          </a:ln>
        </p:spPr>
      </p:pic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E6DAE42E-6F3A-9601-03F2-F1FB2401D297}"/>
              </a:ext>
            </a:extLst>
          </p:cNvPr>
          <p:cNvSpPr/>
          <p:nvPr/>
        </p:nvSpPr>
        <p:spPr>
          <a:xfrm>
            <a:off x="0" y="464674"/>
            <a:ext cx="770798" cy="45719"/>
          </a:xfrm>
          <a:prstGeom prst="rect">
            <a:avLst/>
          </a:prstGeom>
          <a:solidFill>
            <a:srgbClr val="3F917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48A68D"/>
              </a:solidFill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4D3981F-1EDE-8A5A-5940-07C01E149B42}"/>
              </a:ext>
            </a:extLst>
          </p:cNvPr>
          <p:cNvSpPr txBox="1"/>
          <p:nvPr/>
        </p:nvSpPr>
        <p:spPr>
          <a:xfrm>
            <a:off x="1012370" y="206504"/>
            <a:ext cx="68108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作成したアプリケーション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6BA45CF4-F102-9D86-A33D-986279D327DF}"/>
              </a:ext>
            </a:extLst>
          </p:cNvPr>
          <p:cNvSpPr txBox="1"/>
          <p:nvPr/>
        </p:nvSpPr>
        <p:spPr>
          <a:xfrm>
            <a:off x="11404600" y="64985"/>
            <a:ext cx="787400" cy="514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3500"/>
              </a:lnSpc>
            </a:pPr>
            <a:r>
              <a:rPr lang="en-US" altLang="ja-JP" sz="2800" b="1" dirty="0">
                <a:solidFill>
                  <a:schemeClr val="bg1">
                    <a:lumMod val="6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555313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931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7ED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D58FDC-BDFC-8CD4-DD14-086BAB49C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楕円 4">
            <a:extLst>
              <a:ext uri="{FF2B5EF4-FFF2-40B4-BE49-F238E27FC236}">
                <a16:creationId xmlns:a16="http://schemas.microsoft.com/office/drawing/2014/main" id="{D6C25B38-14BC-E3C1-B8D8-FC3647EFF69C}"/>
              </a:ext>
            </a:extLst>
          </p:cNvPr>
          <p:cNvSpPr>
            <a:spLocks/>
          </p:cNvSpPr>
          <p:nvPr/>
        </p:nvSpPr>
        <p:spPr>
          <a:xfrm>
            <a:off x="-549729" y="-1475944"/>
            <a:ext cx="13291457" cy="616131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四角形: 角を丸くする 56">
            <a:extLst>
              <a:ext uri="{FF2B5EF4-FFF2-40B4-BE49-F238E27FC236}">
                <a16:creationId xmlns:a16="http://schemas.microsoft.com/office/drawing/2014/main" id="{45CF8C0F-E117-CADC-5C1C-D050DEEE1A64}"/>
              </a:ext>
            </a:extLst>
          </p:cNvPr>
          <p:cNvSpPr/>
          <p:nvPr/>
        </p:nvSpPr>
        <p:spPr>
          <a:xfrm>
            <a:off x="752720" y="1093270"/>
            <a:ext cx="5037326" cy="5473700"/>
          </a:xfrm>
          <a:prstGeom prst="roundRect">
            <a:avLst>
              <a:gd name="adj" fmla="val 8716"/>
            </a:avLst>
          </a:prstGeom>
          <a:solidFill>
            <a:schemeClr val="bg1"/>
          </a:solidFill>
          <a:ln w="28575">
            <a:solidFill>
              <a:schemeClr val="bg2">
                <a:lumMod val="75000"/>
              </a:schemeClr>
            </a:solidFill>
          </a:ln>
          <a:effectLst>
            <a:outerShdw blurRad="50800" dist="38100" dir="216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四角形: 角を丸くする 57">
            <a:extLst>
              <a:ext uri="{FF2B5EF4-FFF2-40B4-BE49-F238E27FC236}">
                <a16:creationId xmlns:a16="http://schemas.microsoft.com/office/drawing/2014/main" id="{DA9997B2-C96D-564C-465B-3EA8C9CAEBC9}"/>
              </a:ext>
            </a:extLst>
          </p:cNvPr>
          <p:cNvSpPr/>
          <p:nvPr/>
        </p:nvSpPr>
        <p:spPr>
          <a:xfrm>
            <a:off x="6354574" y="1093270"/>
            <a:ext cx="5037326" cy="5473700"/>
          </a:xfrm>
          <a:prstGeom prst="roundRect">
            <a:avLst>
              <a:gd name="adj" fmla="val 8716"/>
            </a:avLst>
          </a:prstGeom>
          <a:solidFill>
            <a:schemeClr val="bg1"/>
          </a:solidFill>
          <a:ln w="28575">
            <a:solidFill>
              <a:schemeClr val="bg2">
                <a:lumMod val="75000"/>
              </a:schemeClr>
            </a:solidFill>
          </a:ln>
          <a:effectLst>
            <a:outerShdw blurRad="50800" dist="38100" dir="216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15C0E5B9-B641-5970-FBD7-E9F8129382E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1093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650BA233-F109-35C4-7DF8-631D7725EFAC}"/>
              </a:ext>
            </a:extLst>
          </p:cNvPr>
          <p:cNvSpPr/>
          <p:nvPr/>
        </p:nvSpPr>
        <p:spPr>
          <a:xfrm>
            <a:off x="283798" y="868192"/>
            <a:ext cx="1268993" cy="126899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FF8896E-42DB-D9F6-6B4C-E38A2219AA88}"/>
              </a:ext>
            </a:extLst>
          </p:cNvPr>
          <p:cNvSpPr txBox="1"/>
          <p:nvPr/>
        </p:nvSpPr>
        <p:spPr>
          <a:xfrm>
            <a:off x="135429" y="999490"/>
            <a:ext cx="15403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6000" b="1" dirty="0">
                <a:solidFill>
                  <a:srgbClr val="C7643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01</a:t>
            </a:r>
            <a:endParaRPr kumimoji="1" lang="ja-JP" altLang="en-US" sz="6000" b="1" dirty="0">
              <a:solidFill>
                <a:srgbClr val="C76433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5473E6D0-F9D3-AC54-31A8-9F4FFB70D726}"/>
              </a:ext>
            </a:extLst>
          </p:cNvPr>
          <p:cNvSpPr/>
          <p:nvPr/>
        </p:nvSpPr>
        <p:spPr>
          <a:xfrm>
            <a:off x="5956300" y="868192"/>
            <a:ext cx="1268993" cy="126899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A558DD5-803C-8446-BA7A-7CC782F3DFCA}"/>
              </a:ext>
            </a:extLst>
          </p:cNvPr>
          <p:cNvSpPr txBox="1"/>
          <p:nvPr/>
        </p:nvSpPr>
        <p:spPr>
          <a:xfrm>
            <a:off x="5807931" y="999490"/>
            <a:ext cx="15403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6000" b="1" dirty="0">
                <a:solidFill>
                  <a:srgbClr val="C7643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02</a:t>
            </a:r>
            <a:endParaRPr kumimoji="1" lang="ja-JP" altLang="en-US" sz="6000" b="1" dirty="0">
              <a:solidFill>
                <a:srgbClr val="C76433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D756E1B3-76B7-A396-B36B-6581BA6700E9}"/>
              </a:ext>
            </a:extLst>
          </p:cNvPr>
          <p:cNvSpPr txBox="1"/>
          <p:nvPr/>
        </p:nvSpPr>
        <p:spPr>
          <a:xfrm>
            <a:off x="1783042" y="1238989"/>
            <a:ext cx="43724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b="1" dirty="0">
                <a:solidFill>
                  <a:srgbClr val="C7643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実装以外の工程</a:t>
            </a:r>
            <a:endParaRPr kumimoji="1" lang="ja-JP" altLang="en-US" sz="3200" b="1" dirty="0">
              <a:solidFill>
                <a:srgbClr val="C76433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EED68E1D-ED20-88B7-7930-8DE2BA87F9B5}"/>
              </a:ext>
            </a:extLst>
          </p:cNvPr>
          <p:cNvSpPr txBox="1"/>
          <p:nvPr/>
        </p:nvSpPr>
        <p:spPr>
          <a:xfrm>
            <a:off x="7297460" y="1249616"/>
            <a:ext cx="43724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>
                <a:solidFill>
                  <a:srgbClr val="C7643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大量のクラスの実装</a:t>
            </a:r>
          </a:p>
        </p:txBody>
      </p:sp>
      <p:sp>
        <p:nvSpPr>
          <p:cNvPr id="16" name="矢印: 山形 15">
            <a:extLst>
              <a:ext uri="{FF2B5EF4-FFF2-40B4-BE49-F238E27FC236}">
                <a16:creationId xmlns:a16="http://schemas.microsoft.com/office/drawing/2014/main" id="{CF063590-3EC4-E319-65E8-824F73C6CA07}"/>
              </a:ext>
            </a:extLst>
          </p:cNvPr>
          <p:cNvSpPr/>
          <p:nvPr/>
        </p:nvSpPr>
        <p:spPr>
          <a:xfrm>
            <a:off x="1275796" y="2623032"/>
            <a:ext cx="754342" cy="415066"/>
          </a:xfrm>
          <a:prstGeom prst="chevron">
            <a:avLst>
              <a:gd name="adj" fmla="val 34701"/>
            </a:avLst>
          </a:prstGeom>
          <a:solidFill>
            <a:schemeClr val="bg2">
              <a:lumMod val="9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7" name="矢印: 山形 16">
            <a:extLst>
              <a:ext uri="{FF2B5EF4-FFF2-40B4-BE49-F238E27FC236}">
                <a16:creationId xmlns:a16="http://schemas.microsoft.com/office/drawing/2014/main" id="{44C473E4-84BD-3E3D-108C-E008BD96AE11}"/>
              </a:ext>
            </a:extLst>
          </p:cNvPr>
          <p:cNvSpPr/>
          <p:nvPr/>
        </p:nvSpPr>
        <p:spPr>
          <a:xfrm>
            <a:off x="1885526" y="2623032"/>
            <a:ext cx="2589105" cy="415066"/>
          </a:xfrm>
          <a:prstGeom prst="chevron">
            <a:avLst>
              <a:gd name="adj" fmla="val 34701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9" name="矢印: 山形 18">
            <a:extLst>
              <a:ext uri="{FF2B5EF4-FFF2-40B4-BE49-F238E27FC236}">
                <a16:creationId xmlns:a16="http://schemas.microsoft.com/office/drawing/2014/main" id="{A0D3C0FB-A7D9-C6F2-E6AC-B1C4DE4E9E6F}"/>
              </a:ext>
            </a:extLst>
          </p:cNvPr>
          <p:cNvSpPr/>
          <p:nvPr/>
        </p:nvSpPr>
        <p:spPr>
          <a:xfrm>
            <a:off x="4331756" y="2623032"/>
            <a:ext cx="922315" cy="415066"/>
          </a:xfrm>
          <a:prstGeom prst="chevron">
            <a:avLst>
              <a:gd name="adj" fmla="val 34701"/>
            </a:avLst>
          </a:prstGeom>
          <a:solidFill>
            <a:schemeClr val="bg2">
              <a:lumMod val="9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7EDF7C97-A6B2-0B7E-358F-86D0F0A263CF}"/>
              </a:ext>
            </a:extLst>
          </p:cNvPr>
          <p:cNvSpPr txBox="1"/>
          <p:nvPr/>
        </p:nvSpPr>
        <p:spPr>
          <a:xfrm>
            <a:off x="1691349" y="2106614"/>
            <a:ext cx="28937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演習前の想定</a:t>
            </a:r>
            <a:endParaRPr kumimoji="1" lang="ja-JP" altLang="en-US" sz="2400" b="1" dirty="0">
              <a:solidFill>
                <a:schemeClr val="bg2">
                  <a:lumMod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A4BF4712-5E61-6403-9C0F-10C5E131000C}"/>
              </a:ext>
            </a:extLst>
          </p:cNvPr>
          <p:cNvSpPr txBox="1"/>
          <p:nvPr/>
        </p:nvSpPr>
        <p:spPr>
          <a:xfrm>
            <a:off x="1782670" y="4374528"/>
            <a:ext cx="28937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演習を経ての実感</a:t>
            </a:r>
            <a:endParaRPr kumimoji="1" lang="ja-JP" altLang="en-US" sz="2400" b="1" dirty="0">
              <a:solidFill>
                <a:schemeClr val="bg2">
                  <a:lumMod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304AD9D3-5CF8-9A40-DC44-20C5CBDFDE07}"/>
              </a:ext>
            </a:extLst>
          </p:cNvPr>
          <p:cNvSpPr txBox="1"/>
          <p:nvPr/>
        </p:nvSpPr>
        <p:spPr>
          <a:xfrm>
            <a:off x="1232905" y="2683829"/>
            <a:ext cx="8786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6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設計</a:t>
            </a:r>
            <a:endParaRPr kumimoji="1" lang="ja-JP" altLang="en-US" sz="1600" b="1" dirty="0">
              <a:solidFill>
                <a:schemeClr val="bg2">
                  <a:lumMod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27DDD927-F906-9762-74BD-6F9B76E140EA}"/>
              </a:ext>
            </a:extLst>
          </p:cNvPr>
          <p:cNvSpPr txBox="1"/>
          <p:nvPr/>
        </p:nvSpPr>
        <p:spPr>
          <a:xfrm>
            <a:off x="2717441" y="2599889"/>
            <a:ext cx="878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b="1" dirty="0">
                <a:solidFill>
                  <a:schemeClr val="accent6">
                    <a:lumMod val="7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実装</a:t>
            </a:r>
            <a:endParaRPr kumimoji="1" lang="ja-JP" altLang="en-US" sz="2400" b="1" dirty="0">
              <a:solidFill>
                <a:schemeClr val="accent6">
                  <a:lumMod val="7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7FDF3E2E-EB70-287D-FC3C-0D27B244611E}"/>
              </a:ext>
            </a:extLst>
          </p:cNvPr>
          <p:cNvSpPr txBox="1"/>
          <p:nvPr/>
        </p:nvSpPr>
        <p:spPr>
          <a:xfrm>
            <a:off x="4390539" y="2676488"/>
            <a:ext cx="8936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6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テスト</a:t>
            </a:r>
            <a:endParaRPr kumimoji="1" lang="ja-JP" altLang="en-US" sz="1600" b="1" dirty="0">
              <a:solidFill>
                <a:schemeClr val="bg2">
                  <a:lumMod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DF2ED775-3390-CD18-CB87-D037765EDF30}"/>
              </a:ext>
            </a:extLst>
          </p:cNvPr>
          <p:cNvSpPr txBox="1"/>
          <p:nvPr/>
        </p:nvSpPr>
        <p:spPr>
          <a:xfrm>
            <a:off x="1115699" y="3154346"/>
            <a:ext cx="40450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0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実装が時間・労力ともに</a:t>
            </a:r>
            <a:endParaRPr lang="en-US" altLang="ja-JP" sz="2000" b="1" dirty="0">
              <a:solidFill>
                <a:schemeClr val="bg2">
                  <a:lumMod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lang="ja-JP" altLang="en-US" sz="20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一番大変だと思っていた</a:t>
            </a:r>
            <a:endParaRPr kumimoji="1" lang="ja-JP" altLang="en-US" sz="2000" b="1" dirty="0">
              <a:solidFill>
                <a:schemeClr val="bg2">
                  <a:lumMod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0" name="矢印: 山形 29">
            <a:extLst>
              <a:ext uri="{FF2B5EF4-FFF2-40B4-BE49-F238E27FC236}">
                <a16:creationId xmlns:a16="http://schemas.microsoft.com/office/drawing/2014/main" id="{7DAA183C-046A-6D13-48B8-5215633814D6}"/>
              </a:ext>
            </a:extLst>
          </p:cNvPr>
          <p:cNvSpPr/>
          <p:nvPr/>
        </p:nvSpPr>
        <p:spPr>
          <a:xfrm>
            <a:off x="1330383" y="4860136"/>
            <a:ext cx="1302670" cy="415066"/>
          </a:xfrm>
          <a:prstGeom prst="chevron">
            <a:avLst>
              <a:gd name="adj" fmla="val 34701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1" name="矢印: 山形 30">
            <a:extLst>
              <a:ext uri="{FF2B5EF4-FFF2-40B4-BE49-F238E27FC236}">
                <a16:creationId xmlns:a16="http://schemas.microsoft.com/office/drawing/2014/main" id="{D7799371-7654-6301-067D-9AA45DC4C9FD}"/>
              </a:ext>
            </a:extLst>
          </p:cNvPr>
          <p:cNvSpPr/>
          <p:nvPr/>
        </p:nvSpPr>
        <p:spPr>
          <a:xfrm>
            <a:off x="2467586" y="4860136"/>
            <a:ext cx="1583266" cy="415066"/>
          </a:xfrm>
          <a:prstGeom prst="chevron">
            <a:avLst>
              <a:gd name="adj" fmla="val 34701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43" name="矢印: 山形 42">
            <a:extLst>
              <a:ext uri="{FF2B5EF4-FFF2-40B4-BE49-F238E27FC236}">
                <a16:creationId xmlns:a16="http://schemas.microsoft.com/office/drawing/2014/main" id="{57F81AA8-A74E-BDCE-BE7B-3664BD46ED5C}"/>
              </a:ext>
            </a:extLst>
          </p:cNvPr>
          <p:cNvSpPr/>
          <p:nvPr/>
        </p:nvSpPr>
        <p:spPr>
          <a:xfrm>
            <a:off x="3914728" y="4860136"/>
            <a:ext cx="1393931" cy="415066"/>
          </a:xfrm>
          <a:prstGeom prst="chevron">
            <a:avLst>
              <a:gd name="adj" fmla="val 34701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0DAEC782-8F36-99B0-9F16-9ABF290698A2}"/>
              </a:ext>
            </a:extLst>
          </p:cNvPr>
          <p:cNvSpPr txBox="1"/>
          <p:nvPr/>
        </p:nvSpPr>
        <p:spPr>
          <a:xfrm>
            <a:off x="1596247" y="4867614"/>
            <a:ext cx="7012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000" b="1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設計</a:t>
            </a:r>
            <a:endParaRPr kumimoji="1" lang="ja-JP" altLang="en-US" sz="2000" b="1" dirty="0">
              <a:solidFill>
                <a:schemeClr val="accent1">
                  <a:lumMod val="7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DF7619F6-9A89-C6A1-3BD8-B2AA8905FBFA}"/>
              </a:ext>
            </a:extLst>
          </p:cNvPr>
          <p:cNvSpPr txBox="1"/>
          <p:nvPr/>
        </p:nvSpPr>
        <p:spPr>
          <a:xfrm>
            <a:off x="2797920" y="4875493"/>
            <a:ext cx="878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000" b="1" dirty="0">
                <a:solidFill>
                  <a:schemeClr val="accent6">
                    <a:lumMod val="7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実装</a:t>
            </a:r>
            <a:endParaRPr kumimoji="1" lang="ja-JP" altLang="en-US" sz="2000" b="1" dirty="0">
              <a:solidFill>
                <a:schemeClr val="accent6">
                  <a:lumMod val="7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C7B42DB1-1554-01BA-FE4B-600BF6D8B320}"/>
              </a:ext>
            </a:extLst>
          </p:cNvPr>
          <p:cNvSpPr txBox="1"/>
          <p:nvPr/>
        </p:nvSpPr>
        <p:spPr>
          <a:xfrm>
            <a:off x="4113370" y="4885118"/>
            <a:ext cx="1033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000" b="1" dirty="0">
                <a:solidFill>
                  <a:schemeClr val="accent4">
                    <a:lumMod val="7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テスト</a:t>
            </a:r>
            <a:endParaRPr kumimoji="1" lang="ja-JP" altLang="en-US" sz="2000" b="1" dirty="0">
              <a:solidFill>
                <a:schemeClr val="accent4">
                  <a:lumMod val="7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3BBFCA9D-42F9-7E11-E012-BD2EB35D42B3}"/>
              </a:ext>
            </a:extLst>
          </p:cNvPr>
          <p:cNvSpPr txBox="1"/>
          <p:nvPr/>
        </p:nvSpPr>
        <p:spPr>
          <a:xfrm>
            <a:off x="1170286" y="5406399"/>
            <a:ext cx="40450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それぞれの工程の大変さ</a:t>
            </a:r>
            <a:endParaRPr kumimoji="1" lang="en-US" altLang="ja-JP" sz="2000" b="1" dirty="0">
              <a:solidFill>
                <a:schemeClr val="bg2">
                  <a:lumMod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20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や重要さが理解できた</a:t>
            </a:r>
          </a:p>
        </p:txBody>
      </p:sp>
      <p:pic>
        <p:nvPicPr>
          <p:cNvPr id="48" name="図 47">
            <a:extLst>
              <a:ext uri="{FF2B5EF4-FFF2-40B4-BE49-F238E27FC236}">
                <a16:creationId xmlns:a16="http://schemas.microsoft.com/office/drawing/2014/main" id="{A9D12439-4570-F162-07CC-74C77E44293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8000"/>
          </a:blip>
          <a:stretch>
            <a:fillRect/>
          </a:stretch>
        </p:blipFill>
        <p:spPr>
          <a:xfrm>
            <a:off x="6915572" y="2458361"/>
            <a:ext cx="1725022" cy="1199830"/>
          </a:xfrm>
          <a:prstGeom prst="rect">
            <a:avLst/>
          </a:prstGeom>
        </p:spPr>
      </p:pic>
      <p:pic>
        <p:nvPicPr>
          <p:cNvPr id="49" name="図 48">
            <a:extLst>
              <a:ext uri="{FF2B5EF4-FFF2-40B4-BE49-F238E27FC236}">
                <a16:creationId xmlns:a16="http://schemas.microsoft.com/office/drawing/2014/main" id="{5980D7A2-008F-73E5-1480-D6DCBADE3D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24366">
            <a:off x="6814309" y="2284468"/>
            <a:ext cx="431859" cy="431859"/>
          </a:xfrm>
          <a:prstGeom prst="rect">
            <a:avLst/>
          </a:prstGeom>
        </p:spPr>
      </p:pic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ADFD5F7B-8B5F-677C-75FF-FDB020213E46}"/>
              </a:ext>
            </a:extLst>
          </p:cNvPr>
          <p:cNvSpPr txBox="1"/>
          <p:nvPr/>
        </p:nvSpPr>
        <p:spPr>
          <a:xfrm>
            <a:off x="6842954" y="3870093"/>
            <a:ext cx="40450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0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勢いよく実装を進めたところ</a:t>
            </a:r>
            <a:endParaRPr lang="en-US" altLang="ja-JP" sz="2000" b="1" dirty="0">
              <a:solidFill>
                <a:schemeClr val="bg2">
                  <a:lumMod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20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途中でどのクラスに何が入って</a:t>
            </a:r>
            <a:endParaRPr kumimoji="1" lang="en-US" altLang="ja-JP" sz="2000" b="1" dirty="0">
              <a:solidFill>
                <a:schemeClr val="bg2">
                  <a:lumMod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20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いるか混乱してしまった</a:t>
            </a:r>
          </a:p>
        </p:txBody>
      </p:sp>
      <p:sp>
        <p:nvSpPr>
          <p:cNvPr id="51" name="二等辺三角形 50">
            <a:extLst>
              <a:ext uri="{FF2B5EF4-FFF2-40B4-BE49-F238E27FC236}">
                <a16:creationId xmlns:a16="http://schemas.microsoft.com/office/drawing/2014/main" id="{F49FAC1E-8F18-3CB4-63F0-097D8A4DEE74}"/>
              </a:ext>
            </a:extLst>
          </p:cNvPr>
          <p:cNvSpPr/>
          <p:nvPr/>
        </p:nvSpPr>
        <p:spPr>
          <a:xfrm rot="10800000">
            <a:off x="2951117" y="3977862"/>
            <a:ext cx="483436" cy="269167"/>
          </a:xfrm>
          <a:prstGeom prst="triangle">
            <a:avLst/>
          </a:prstGeom>
          <a:solidFill>
            <a:srgbClr val="C764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二等辺三角形 51">
            <a:extLst>
              <a:ext uri="{FF2B5EF4-FFF2-40B4-BE49-F238E27FC236}">
                <a16:creationId xmlns:a16="http://schemas.microsoft.com/office/drawing/2014/main" id="{554FCB59-54E0-ECBA-66B1-C920E36CDABE}"/>
              </a:ext>
            </a:extLst>
          </p:cNvPr>
          <p:cNvSpPr/>
          <p:nvPr/>
        </p:nvSpPr>
        <p:spPr>
          <a:xfrm rot="5400000">
            <a:off x="8793224" y="2892433"/>
            <a:ext cx="317028" cy="223692"/>
          </a:xfrm>
          <a:prstGeom prst="triangle">
            <a:avLst/>
          </a:prstGeom>
          <a:solidFill>
            <a:srgbClr val="52525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3" name="図 52">
            <a:extLst>
              <a:ext uri="{FF2B5EF4-FFF2-40B4-BE49-F238E27FC236}">
                <a16:creationId xmlns:a16="http://schemas.microsoft.com/office/drawing/2014/main" id="{2C438502-351F-5816-D835-B519CE5740E2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88000"/>
          </a:blip>
          <a:stretch>
            <a:fillRect/>
          </a:stretch>
        </p:blipFill>
        <p:spPr>
          <a:xfrm>
            <a:off x="9327656" y="2254564"/>
            <a:ext cx="1420990" cy="1368183"/>
          </a:xfrm>
          <a:prstGeom prst="rect">
            <a:avLst/>
          </a:prstGeom>
        </p:spPr>
      </p:pic>
      <p:sp>
        <p:nvSpPr>
          <p:cNvPr id="54" name="二等辺三角形 53">
            <a:extLst>
              <a:ext uri="{FF2B5EF4-FFF2-40B4-BE49-F238E27FC236}">
                <a16:creationId xmlns:a16="http://schemas.microsoft.com/office/drawing/2014/main" id="{7E09DFF1-D9B6-CE52-B536-DE293B48A21F}"/>
              </a:ext>
            </a:extLst>
          </p:cNvPr>
          <p:cNvSpPr/>
          <p:nvPr/>
        </p:nvSpPr>
        <p:spPr>
          <a:xfrm rot="10800000">
            <a:off x="8765531" y="4991949"/>
            <a:ext cx="483436" cy="269167"/>
          </a:xfrm>
          <a:prstGeom prst="triangle">
            <a:avLst/>
          </a:prstGeom>
          <a:solidFill>
            <a:srgbClr val="C764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7F50A237-61E4-B30A-829D-1570839F7A98}"/>
              </a:ext>
            </a:extLst>
          </p:cNvPr>
          <p:cNvSpPr txBox="1"/>
          <p:nvPr/>
        </p:nvSpPr>
        <p:spPr>
          <a:xfrm>
            <a:off x="6915572" y="5388075"/>
            <a:ext cx="40450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0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今後は設計の段階をもっと丁寧に行い</a:t>
            </a:r>
            <a:r>
              <a:rPr kumimoji="1" lang="ja-JP" altLang="en-US" sz="20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実装の見通しを立てる</a:t>
            </a:r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F133255E-5A0E-598C-73B5-91CE5A1732D8}"/>
              </a:ext>
            </a:extLst>
          </p:cNvPr>
          <p:cNvSpPr/>
          <p:nvPr/>
        </p:nvSpPr>
        <p:spPr>
          <a:xfrm>
            <a:off x="0" y="464674"/>
            <a:ext cx="770798" cy="45719"/>
          </a:xfrm>
          <a:prstGeom prst="rect">
            <a:avLst/>
          </a:prstGeom>
          <a:solidFill>
            <a:srgbClr val="3F917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48A68D"/>
              </a:solidFill>
            </a:endParaRPr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6A289121-3EC1-0C60-8B63-8C78DC0DD7FE}"/>
              </a:ext>
            </a:extLst>
          </p:cNvPr>
          <p:cNvSpPr txBox="1"/>
          <p:nvPr/>
        </p:nvSpPr>
        <p:spPr>
          <a:xfrm>
            <a:off x="1012370" y="206504"/>
            <a:ext cx="97362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演習での学び・反省点</a:t>
            </a:r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A5A947E8-456D-427D-6BF5-9C409D8CDDCA}"/>
              </a:ext>
            </a:extLst>
          </p:cNvPr>
          <p:cNvSpPr txBox="1"/>
          <p:nvPr/>
        </p:nvSpPr>
        <p:spPr>
          <a:xfrm>
            <a:off x="11404600" y="64985"/>
            <a:ext cx="787400" cy="514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3500"/>
              </a:lnSpc>
            </a:pPr>
            <a:r>
              <a:rPr lang="en-US" altLang="ja-JP" sz="2800" b="1" dirty="0">
                <a:solidFill>
                  <a:schemeClr val="bg1">
                    <a:lumMod val="6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79233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7ED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B4E8C9-F4A6-8FA0-AA29-B6E6894C5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楕円 33">
            <a:extLst>
              <a:ext uri="{FF2B5EF4-FFF2-40B4-BE49-F238E27FC236}">
                <a16:creationId xmlns:a16="http://schemas.microsoft.com/office/drawing/2014/main" id="{A25558F5-C590-CE76-9EA5-F90068033F16}"/>
              </a:ext>
            </a:extLst>
          </p:cNvPr>
          <p:cNvSpPr>
            <a:spLocks/>
          </p:cNvSpPr>
          <p:nvPr/>
        </p:nvSpPr>
        <p:spPr>
          <a:xfrm>
            <a:off x="-549729" y="-1475944"/>
            <a:ext cx="13291457" cy="616131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759EA26E-9829-6DF8-65DE-A2F73A92FB4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1093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604CF4F-7C94-EB13-4BA1-85B690596EE8}"/>
              </a:ext>
            </a:extLst>
          </p:cNvPr>
          <p:cNvSpPr/>
          <p:nvPr/>
        </p:nvSpPr>
        <p:spPr>
          <a:xfrm>
            <a:off x="742950" y="5917467"/>
            <a:ext cx="10706100" cy="283812"/>
          </a:xfrm>
          <a:prstGeom prst="rect">
            <a:avLst/>
          </a:prstGeom>
          <a:solidFill>
            <a:srgbClr val="3F917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二等辺三角形 6">
            <a:extLst>
              <a:ext uri="{FF2B5EF4-FFF2-40B4-BE49-F238E27FC236}">
                <a16:creationId xmlns:a16="http://schemas.microsoft.com/office/drawing/2014/main" id="{975D3C8C-1A19-DFC3-299C-D70F1CC53678}"/>
              </a:ext>
            </a:extLst>
          </p:cNvPr>
          <p:cNvSpPr/>
          <p:nvPr/>
        </p:nvSpPr>
        <p:spPr>
          <a:xfrm>
            <a:off x="5549899" y="6059373"/>
            <a:ext cx="1092200" cy="531927"/>
          </a:xfrm>
          <a:prstGeom prst="triangle">
            <a:avLst/>
          </a:prstGeom>
          <a:solidFill>
            <a:srgbClr val="3F917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43DB3C03-5ADE-C505-14DF-AE0642C3B4C1}"/>
              </a:ext>
            </a:extLst>
          </p:cNvPr>
          <p:cNvSpPr/>
          <p:nvPr/>
        </p:nvSpPr>
        <p:spPr>
          <a:xfrm>
            <a:off x="948871" y="4063999"/>
            <a:ext cx="2503724" cy="1807713"/>
          </a:xfrm>
          <a:prstGeom prst="roundRect">
            <a:avLst>
              <a:gd name="adj" fmla="val 7292"/>
            </a:avLst>
          </a:prstGeom>
          <a:solidFill>
            <a:schemeClr val="bg1"/>
          </a:solidFill>
          <a:ln w="381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97096841-CE3C-9F6D-2953-29F0A75B6C31}"/>
              </a:ext>
            </a:extLst>
          </p:cNvPr>
          <p:cNvSpPr/>
          <p:nvPr/>
        </p:nvSpPr>
        <p:spPr>
          <a:xfrm>
            <a:off x="3552973" y="4063999"/>
            <a:ext cx="2503724" cy="1807713"/>
          </a:xfrm>
          <a:prstGeom prst="roundRect">
            <a:avLst>
              <a:gd name="adj" fmla="val 7292"/>
            </a:avLst>
          </a:prstGeom>
          <a:solidFill>
            <a:schemeClr val="bg1"/>
          </a:solidFill>
          <a:ln w="381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C579AC83-C4BE-553E-ADD5-D0E1B8922291}"/>
              </a:ext>
            </a:extLst>
          </p:cNvPr>
          <p:cNvSpPr/>
          <p:nvPr/>
        </p:nvSpPr>
        <p:spPr>
          <a:xfrm>
            <a:off x="6157075" y="4063999"/>
            <a:ext cx="2503724" cy="1807713"/>
          </a:xfrm>
          <a:prstGeom prst="roundRect">
            <a:avLst>
              <a:gd name="adj" fmla="val 7292"/>
            </a:avLst>
          </a:prstGeom>
          <a:solidFill>
            <a:schemeClr val="bg1"/>
          </a:solidFill>
          <a:ln w="381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四角形: 角を丸くする 31">
            <a:extLst>
              <a:ext uri="{FF2B5EF4-FFF2-40B4-BE49-F238E27FC236}">
                <a16:creationId xmlns:a16="http://schemas.microsoft.com/office/drawing/2014/main" id="{930BC41F-E213-048E-45F6-604CDB2B245C}"/>
              </a:ext>
            </a:extLst>
          </p:cNvPr>
          <p:cNvSpPr/>
          <p:nvPr/>
        </p:nvSpPr>
        <p:spPr>
          <a:xfrm>
            <a:off x="8761176" y="4063999"/>
            <a:ext cx="2503724" cy="1807713"/>
          </a:xfrm>
          <a:prstGeom prst="roundRect">
            <a:avLst>
              <a:gd name="adj" fmla="val 7292"/>
            </a:avLst>
          </a:prstGeom>
          <a:solidFill>
            <a:schemeClr val="bg1"/>
          </a:solidFill>
          <a:ln w="381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5B6701A0-8312-04B0-8AAB-EB86EF8392C6}"/>
              </a:ext>
            </a:extLst>
          </p:cNvPr>
          <p:cNvSpPr txBox="1"/>
          <p:nvPr/>
        </p:nvSpPr>
        <p:spPr>
          <a:xfrm>
            <a:off x="1035207" y="2509312"/>
            <a:ext cx="100429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 b="1" dirty="0">
                <a:solidFill>
                  <a:srgbClr val="C7643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開発に必要な力・自分に足りない力を</a:t>
            </a:r>
            <a:endParaRPr lang="en-US" altLang="ja-JP" sz="3600" b="1" dirty="0">
              <a:solidFill>
                <a:srgbClr val="C76433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lang="ja-JP" altLang="en-US" sz="3600" b="1" dirty="0">
                <a:solidFill>
                  <a:srgbClr val="C7643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バランスよく鍛えて実務に入れるようにしたい</a:t>
            </a:r>
            <a:endParaRPr kumimoji="1" lang="ja-JP" altLang="en-US" sz="3600" b="1" dirty="0">
              <a:solidFill>
                <a:srgbClr val="C76433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36665A47-B03A-B4C9-6932-53B035913932}"/>
              </a:ext>
            </a:extLst>
          </p:cNvPr>
          <p:cNvSpPr txBox="1"/>
          <p:nvPr/>
        </p:nvSpPr>
        <p:spPr>
          <a:xfrm>
            <a:off x="927101" y="4380758"/>
            <a:ext cx="25254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Git</a:t>
            </a:r>
            <a:r>
              <a:rPr lang="ja-JP" altLang="en-US" sz="24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を使った</a:t>
            </a:r>
            <a:endParaRPr lang="en-US" altLang="ja-JP" sz="2400" b="1" dirty="0">
              <a:solidFill>
                <a:schemeClr val="bg2">
                  <a:lumMod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24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チームでの</a:t>
            </a:r>
            <a:endParaRPr kumimoji="1" lang="en-US" altLang="ja-JP" sz="2400" b="1" dirty="0">
              <a:solidFill>
                <a:schemeClr val="bg2">
                  <a:lumMod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lang="ja-JP" altLang="en-US" sz="24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コード管理</a:t>
            </a:r>
            <a:endParaRPr kumimoji="1" lang="ja-JP" altLang="en-US" sz="2400" b="1" dirty="0">
              <a:solidFill>
                <a:schemeClr val="bg2">
                  <a:lumMod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79D6D895-491C-DEB2-5FC7-2978922E2681}"/>
              </a:ext>
            </a:extLst>
          </p:cNvPr>
          <p:cNvSpPr txBox="1"/>
          <p:nvPr/>
        </p:nvSpPr>
        <p:spPr>
          <a:xfrm>
            <a:off x="8761176" y="4420763"/>
            <a:ext cx="25254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すぐに始めず</a:t>
            </a:r>
            <a:endParaRPr lang="en-US" altLang="ja-JP" sz="2400" b="1" dirty="0">
              <a:solidFill>
                <a:schemeClr val="bg2">
                  <a:lumMod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lang="ja-JP" altLang="en-US" sz="24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先を考えながら動くこと</a:t>
            </a:r>
            <a:endParaRPr kumimoji="1" lang="ja-JP" altLang="en-US" sz="2400" b="1" dirty="0">
              <a:solidFill>
                <a:schemeClr val="bg2">
                  <a:lumMod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94996743-E7DA-6670-8A12-D89F50B24873}"/>
              </a:ext>
            </a:extLst>
          </p:cNvPr>
          <p:cNvSpPr txBox="1"/>
          <p:nvPr/>
        </p:nvSpPr>
        <p:spPr>
          <a:xfrm>
            <a:off x="6158280" y="4380758"/>
            <a:ext cx="25254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開発言語への</a:t>
            </a:r>
            <a:endParaRPr kumimoji="1" lang="en-US" altLang="ja-JP" sz="2400" b="1" dirty="0">
              <a:solidFill>
                <a:schemeClr val="bg2">
                  <a:lumMod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24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深い理解や</a:t>
            </a:r>
            <a:endParaRPr kumimoji="1" lang="en-US" altLang="ja-JP" sz="2400" b="1" dirty="0">
              <a:solidFill>
                <a:schemeClr val="bg2">
                  <a:lumMod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lang="ja-JP" altLang="en-US" sz="24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実装スキル</a:t>
            </a:r>
            <a:endParaRPr kumimoji="1" lang="ja-JP" altLang="en-US" sz="2400" b="1" dirty="0">
              <a:solidFill>
                <a:schemeClr val="bg2">
                  <a:lumMod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68AA4F5F-463A-48A7-4031-24774DDE9EDA}"/>
              </a:ext>
            </a:extLst>
          </p:cNvPr>
          <p:cNvSpPr txBox="1"/>
          <p:nvPr/>
        </p:nvSpPr>
        <p:spPr>
          <a:xfrm>
            <a:off x="3551897" y="4420764"/>
            <a:ext cx="25254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テスト</a:t>
            </a:r>
            <a:endParaRPr kumimoji="1" lang="en-US" altLang="ja-JP" sz="2400" b="1" dirty="0">
              <a:solidFill>
                <a:schemeClr val="bg2">
                  <a:lumMod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24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・レビュー</a:t>
            </a:r>
            <a:endParaRPr kumimoji="1" lang="en-US" altLang="ja-JP" sz="2400" b="1" dirty="0">
              <a:solidFill>
                <a:schemeClr val="bg2">
                  <a:lumMod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lang="ja-JP" altLang="en-US" sz="24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の経験</a:t>
            </a:r>
            <a:endParaRPr kumimoji="1" lang="ja-JP" altLang="en-US" sz="2400" b="1" dirty="0">
              <a:solidFill>
                <a:schemeClr val="bg2">
                  <a:lumMod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85DFA930-EA15-E372-C858-61EF4C64084A}"/>
              </a:ext>
            </a:extLst>
          </p:cNvPr>
          <p:cNvSpPr txBox="1"/>
          <p:nvPr/>
        </p:nvSpPr>
        <p:spPr>
          <a:xfrm>
            <a:off x="0" y="1177578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演習前よりも開発の全体像や自分の力量が理解できた</a:t>
            </a:r>
            <a:endParaRPr kumimoji="1" lang="ja-JP" altLang="en-US" sz="3200" b="1" dirty="0">
              <a:solidFill>
                <a:schemeClr val="bg2">
                  <a:lumMod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57" name="二等辺三角形 56">
            <a:extLst>
              <a:ext uri="{FF2B5EF4-FFF2-40B4-BE49-F238E27FC236}">
                <a16:creationId xmlns:a16="http://schemas.microsoft.com/office/drawing/2014/main" id="{9CEED431-E2A5-1589-2AAB-840880A80619}"/>
              </a:ext>
            </a:extLst>
          </p:cNvPr>
          <p:cNvSpPr/>
          <p:nvPr/>
        </p:nvSpPr>
        <p:spPr>
          <a:xfrm rot="10800000">
            <a:off x="5658292" y="1982857"/>
            <a:ext cx="628208" cy="305952"/>
          </a:xfrm>
          <a:prstGeom prst="triangle">
            <a:avLst/>
          </a:prstGeom>
          <a:solidFill>
            <a:srgbClr val="3F917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4CAB1A4A-EC63-E57D-C511-26BD8D8AACE5}"/>
              </a:ext>
            </a:extLst>
          </p:cNvPr>
          <p:cNvSpPr/>
          <p:nvPr/>
        </p:nvSpPr>
        <p:spPr>
          <a:xfrm>
            <a:off x="0" y="464674"/>
            <a:ext cx="770798" cy="45719"/>
          </a:xfrm>
          <a:prstGeom prst="rect">
            <a:avLst/>
          </a:prstGeom>
          <a:solidFill>
            <a:srgbClr val="3F917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48A68D"/>
              </a:solidFill>
            </a:endParaRPr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017ACD4C-8491-97B4-B957-9AE77DD43BC5}"/>
              </a:ext>
            </a:extLst>
          </p:cNvPr>
          <p:cNvSpPr txBox="1"/>
          <p:nvPr/>
        </p:nvSpPr>
        <p:spPr>
          <a:xfrm>
            <a:off x="1012370" y="206504"/>
            <a:ext cx="97362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>
                <a:solidFill>
                  <a:schemeClr val="bg2">
                    <a:lumMod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全体を通して・今後の研修で意識したい点</a:t>
            </a:r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BC6DB276-00C3-C680-1B25-8384A17D2188}"/>
              </a:ext>
            </a:extLst>
          </p:cNvPr>
          <p:cNvSpPr txBox="1"/>
          <p:nvPr/>
        </p:nvSpPr>
        <p:spPr>
          <a:xfrm>
            <a:off x="11404600" y="64985"/>
            <a:ext cx="787400" cy="514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3500"/>
              </a:lnSpc>
            </a:pPr>
            <a:r>
              <a:rPr lang="en-US" altLang="ja-JP" sz="2800" b="1" dirty="0">
                <a:solidFill>
                  <a:schemeClr val="bg1">
                    <a:lumMod val="6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58033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</TotalTime>
  <Words>557</Words>
  <Application>Microsoft Office PowerPoint</Application>
  <PresentationFormat>ワイド画面</PresentationFormat>
  <Paragraphs>169</Paragraphs>
  <Slides>9</Slides>
  <Notes>3</Notes>
  <HiddenSlides>0</HiddenSlides>
  <MMClips>1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5" baseType="lpstr">
      <vt:lpstr>Noto Sans JP</vt:lpstr>
      <vt:lpstr>游ゴシック</vt:lpstr>
      <vt:lpstr>游ゴシック Light</vt:lpstr>
      <vt:lpstr>Arial</vt:lpstr>
      <vt:lpstr>Segoe UI Black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opnewemp017</dc:creator>
  <cp:lastModifiedBy>opnewemp017</cp:lastModifiedBy>
  <cp:revision>87</cp:revision>
  <dcterms:created xsi:type="dcterms:W3CDTF">2026-05-27T23:53:05Z</dcterms:created>
  <dcterms:modified xsi:type="dcterms:W3CDTF">2026-05-28T07:19:23Z</dcterms:modified>
</cp:coreProperties>
</file>